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28.png" ContentType="image/png"/>
  <Override PartName="/ppt/media/image11.png" ContentType="image/png"/>
  <Override PartName="/ppt/media/image2.png" ContentType="image/png"/>
  <Override PartName="/ppt/media/image17.png" ContentType="image/png"/>
  <Override PartName="/ppt/media/image8.png" ContentType="image/png"/>
  <Override PartName="/ppt/media/image12.png" ContentType="image/png"/>
  <Override PartName="/ppt/media/image3.png" ContentType="image/png"/>
  <Override PartName="/ppt/media/image18.png" ContentType="image/png"/>
  <Override PartName="/ppt/media/image20.png" ContentType="image/png"/>
  <Override PartName="/ppt/media/image9.png" ContentType="image/png"/>
  <Override PartName="/ppt/media/image4.png" ContentType="image/png"/>
  <Override PartName="/ppt/media/image13.png" ContentType="image/png"/>
  <Override PartName="/ppt/media/image30.png" ContentType="image/png"/>
  <Override PartName="/ppt/media/image31.png" ContentType="image/png"/>
  <Override PartName="/ppt/media/image7.png" ContentType="image/png"/>
  <Override PartName="/ppt/media/image16.png" ContentType="image/png"/>
  <Override PartName="/ppt/media/image10.png" ContentType="image/png"/>
  <Override PartName="/ppt/media/image1.png" ContentType="image/png"/>
  <Override PartName="/ppt/media/image6.png" ContentType="image/png"/>
  <Override PartName="/ppt/media/image15.png" ContentType="image/png"/>
  <Override PartName="/ppt/media/image5.png" ContentType="image/png"/>
  <Override PartName="/ppt/media/image14.png" ContentType="image/png"/>
  <Override PartName="/ppt/media/image19.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_rels/slide10.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18.xml.rels" ContentType="application/vnd.openxmlformats-package.relationships+xml"/>
  <Override PartName="/ppt/notesSlides/_rels/notesSlide9.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17.xml.rels" ContentType="application/vnd.openxmlformats-package.relationships+xml"/>
  <Override PartName="/ppt/notesSlides/_rels/notesSlide8.xml.rels" ContentType="application/vnd.openxmlformats-package.relationships+xml"/>
  <Override PartName="/ppt/notesSlides/_rels/notesSlide3.xml.rels" ContentType="application/vnd.openxmlformats-package.relationships+xml"/>
  <Override PartName="/ppt/notesSlides/_rels/notesSlide12.xml.rels" ContentType="application/vnd.openxmlformats-package.relationships+xml"/>
  <Override PartName="/ppt/notesSlides/_rels/notesSlide32.xml.rels" ContentType="application/vnd.openxmlformats-package.relationships+xml"/>
  <Override PartName="/ppt/notesSlides/_rels/notesSlide29.xml.rels" ContentType="application/vnd.openxmlformats-package.relationships+xml"/>
  <Override PartName="/ppt/notesSlides/_rels/notesSlide31.xml.rels" ContentType="application/vnd.openxmlformats-package.relationships+xml"/>
  <Override PartName="/ppt/notesSlides/_rels/notesSlide28.xml.rels" ContentType="application/vnd.openxmlformats-package.relationships+xml"/>
  <Override PartName="/ppt/notesSlides/_rels/notesSlide30.xml.rels" ContentType="application/vnd.openxmlformats-package.relationships+xml"/>
  <Override PartName="/ppt/notesSlides/_rels/notesSlide33.xml.rels" ContentType="application/vnd.openxmlformats-package.relationships+xml"/>
  <Override PartName="/ppt/notesSlides/_rels/notesSlide21.xml.rels" ContentType="application/vnd.openxmlformats-package.relationships+xml"/>
  <Override PartName="/ppt/notesSlides/_rels/notesSlide34.xml.rels" ContentType="application/vnd.openxmlformats-package.relationships+xml"/>
  <Override PartName="/ppt/notesSlides/_rels/notesSlide22.xml.rels" ContentType="application/vnd.openxmlformats-package.relationships+xml"/>
  <Override PartName="/ppt/notesSlides/_rels/notesSlide16.xml.rels" ContentType="application/vnd.openxmlformats-package.relationships+xml"/>
  <Override PartName="/ppt/notesSlides/_rels/notesSlide7.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40.xml.rels" ContentType="application/vnd.openxmlformats-package.relationships+xml"/>
  <Override PartName="/ppt/notesSlides/_rels/notesSlide39.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_rels/notesSlide27.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5.xml" ContentType="application/vnd.openxmlformats-officedocument.presentationml.notesSlide+xml"/>
  <Override PartName="/ppt/notesSlides/notesSlide30.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12.xml" ContentType="application/vnd.openxmlformats-officedocument.presentationml.notesSlide+xml"/>
  <Override PartName="/ppt/notesSlides/notesSlide36.xml" ContentType="application/vnd.openxmlformats-officedocument.presentationml.notesSlide+xml"/>
  <Override PartName="/ppt/notesSlides/notesSlide13.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AU" sz="1800" spc="-1" strike="noStrike">
                <a:solidFill>
                  <a:schemeClr val="dk1"/>
                </a:solidFill>
                <a:latin typeface="Calibri"/>
              </a:rPr>
              <a:t>Click to move the slide</a:t>
            </a:r>
            <a:endParaRPr b="0" lang="en-AU" sz="1800" spc="-1" strike="noStrike">
              <a:solidFill>
                <a:schemeClr val="dk1"/>
              </a:solidFill>
              <a:latin typeface="Calibri"/>
            </a:endParaRPr>
          </a:p>
        </p:txBody>
      </p:sp>
      <p:sp>
        <p:nvSpPr>
          <p:cNvPr id="3"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AU" sz="2000" spc="-1" strike="noStrike">
                <a:solidFill>
                  <a:srgbClr val="000000"/>
                </a:solidFill>
                <a:latin typeface="Arial"/>
              </a:rPr>
              <a:t>Click to edit the notes format</a:t>
            </a:r>
            <a:endParaRPr b="0" lang="en-AU" sz="2000" spc="-1" strike="noStrike">
              <a:solidFill>
                <a:srgbClr val="000000"/>
              </a:solidFill>
              <a:latin typeface="Arial"/>
            </a:endParaRPr>
          </a:p>
        </p:txBody>
      </p:sp>
      <p:sp>
        <p:nvSpPr>
          <p:cNvPr id="4"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AU" sz="1400" spc="-1" strike="noStrike">
                <a:solidFill>
                  <a:srgbClr val="000000"/>
                </a:solidFill>
                <a:latin typeface="Times New Roman"/>
              </a:rPr>
              <a:t>&lt;header&gt;</a:t>
            </a:r>
            <a:endParaRPr b="0" lang="en-AU" sz="1400" spc="-1" strike="noStrike">
              <a:solidFill>
                <a:srgbClr val="000000"/>
              </a:solidFill>
              <a:latin typeface="Times New Roman"/>
            </a:endParaRPr>
          </a:p>
        </p:txBody>
      </p:sp>
      <p:sp>
        <p:nvSpPr>
          <p:cNvPr id="5"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AU" sz="1400" spc="-1" strike="noStrike">
                <a:solidFill>
                  <a:srgbClr val="000000"/>
                </a:solidFill>
                <a:latin typeface="Times New Roman"/>
              </a:defRPr>
            </a:lvl1pPr>
          </a:lstStyle>
          <a:p>
            <a:pPr indent="0" algn="r">
              <a:buNone/>
            </a:pPr>
            <a:r>
              <a:rPr b="0" lang="en-AU" sz="1400" spc="-1" strike="noStrike">
                <a:solidFill>
                  <a:srgbClr val="000000"/>
                </a:solidFill>
                <a:latin typeface="Times New Roman"/>
              </a:rPr>
              <a:t>&lt;date/time&gt;</a:t>
            </a:r>
            <a:endParaRPr b="0" lang="en-AU" sz="1400" spc="-1" strike="noStrike">
              <a:solidFill>
                <a:srgbClr val="000000"/>
              </a:solidFill>
              <a:latin typeface="Times New Roman"/>
            </a:endParaRPr>
          </a:p>
        </p:txBody>
      </p:sp>
      <p:sp>
        <p:nvSpPr>
          <p:cNvPr id="6"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AU" sz="1400" spc="-1" strike="noStrike">
                <a:solidFill>
                  <a:srgbClr val="000000"/>
                </a:solidFill>
                <a:latin typeface="Times New Roman"/>
              </a:defRPr>
            </a:lvl1pPr>
          </a:lstStyle>
          <a:p>
            <a:pPr indent="0">
              <a:buNone/>
            </a:pPr>
            <a:r>
              <a:rPr b="0" lang="en-AU" sz="1400" spc="-1" strike="noStrike">
                <a:solidFill>
                  <a:srgbClr val="000000"/>
                </a:solidFill>
                <a:latin typeface="Times New Roman"/>
              </a:rPr>
              <a:t>&lt;footer&gt;</a:t>
            </a:r>
            <a:endParaRPr b="0" lang="en-AU" sz="1400" spc="-1" strike="noStrike">
              <a:solidFill>
                <a:srgbClr val="000000"/>
              </a:solidFill>
              <a:latin typeface="Times New Roman"/>
            </a:endParaRPr>
          </a:p>
        </p:txBody>
      </p:sp>
      <p:sp>
        <p:nvSpPr>
          <p:cNvPr id="7"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AU" sz="1400" spc="-1" strike="noStrike">
                <a:solidFill>
                  <a:srgbClr val="000000"/>
                </a:solidFill>
                <a:latin typeface="Times New Roman"/>
              </a:defRPr>
            </a:lvl1pPr>
          </a:lstStyle>
          <a:p>
            <a:pPr indent="0" algn="r">
              <a:buNone/>
            </a:pPr>
            <a:fld id="{13E97580-AF24-4D51-9FDD-96642DC0EA9D}" type="slidenum">
              <a:rPr b="0" lang="en-AU" sz="1400" spc="-1" strike="noStrike">
                <a:solidFill>
                  <a:srgbClr val="000000"/>
                </a:solidFill>
                <a:latin typeface="Times New Roman"/>
              </a:rPr>
              <a:t>&lt;number&gt;</a:t>
            </a:fld>
            <a:endParaRPr b="0" lang="en-AU"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sldImg"/>
          </p:nvPr>
        </p:nvSpPr>
        <p:spPr>
          <a:xfrm>
            <a:off x="685800" y="1143000"/>
            <a:ext cx="5486040" cy="3085920"/>
          </a:xfrm>
          <a:prstGeom prst="rect">
            <a:avLst/>
          </a:prstGeom>
          <a:ln w="0">
            <a:noFill/>
          </a:ln>
        </p:spPr>
      </p:sp>
      <p:sp>
        <p:nvSpPr>
          <p:cNvPr id="30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09"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13DC745-FD89-4845-BE95-E6CA5EF99A92}"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sldImg"/>
          </p:nvPr>
        </p:nvSpPr>
        <p:spPr>
          <a:xfrm>
            <a:off x="685800" y="1143000"/>
            <a:ext cx="5486040" cy="3085920"/>
          </a:xfrm>
          <a:prstGeom prst="rect">
            <a:avLst/>
          </a:prstGeom>
          <a:ln w="0">
            <a:noFill/>
          </a:ln>
        </p:spPr>
      </p:sp>
      <p:sp>
        <p:nvSpPr>
          <p:cNvPr id="31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12"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B25DC88-9163-4427-9A0D-6B2020986447}"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sldImg"/>
          </p:nvPr>
        </p:nvSpPr>
        <p:spPr>
          <a:xfrm>
            <a:off x="685800" y="1143000"/>
            <a:ext cx="5486040" cy="3085920"/>
          </a:xfrm>
          <a:prstGeom prst="rect">
            <a:avLst/>
          </a:prstGeom>
          <a:ln w="0">
            <a:noFill/>
          </a:ln>
        </p:spPr>
      </p:sp>
      <p:sp>
        <p:nvSpPr>
          <p:cNvPr id="31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15"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8347E7E-EA42-4ED3-A68A-924B19D2BEC8}"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sldImg"/>
          </p:nvPr>
        </p:nvSpPr>
        <p:spPr>
          <a:xfrm>
            <a:off x="685800" y="1143000"/>
            <a:ext cx="5486040" cy="3085920"/>
          </a:xfrm>
          <a:prstGeom prst="rect">
            <a:avLst/>
          </a:prstGeom>
          <a:ln w="0">
            <a:noFill/>
          </a:ln>
        </p:spPr>
      </p:sp>
      <p:sp>
        <p:nvSpPr>
          <p:cNvPr id="31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18"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24B8AA2-EED3-4469-BEEA-80D8783EAB2D}"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sldImg"/>
          </p:nvPr>
        </p:nvSpPr>
        <p:spPr>
          <a:xfrm>
            <a:off x="685800" y="1143000"/>
            <a:ext cx="5486040" cy="3085920"/>
          </a:xfrm>
          <a:prstGeom prst="rect">
            <a:avLst/>
          </a:prstGeom>
          <a:ln w="0">
            <a:noFill/>
          </a:ln>
        </p:spPr>
      </p:sp>
      <p:sp>
        <p:nvSpPr>
          <p:cNvPr id="32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21"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0FD4FE8-DCBF-46BE-9CD8-472ADE7A8DA6}"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sldImg"/>
          </p:nvPr>
        </p:nvSpPr>
        <p:spPr>
          <a:xfrm>
            <a:off x="685800" y="1143000"/>
            <a:ext cx="5486040" cy="3085920"/>
          </a:xfrm>
          <a:prstGeom prst="rect">
            <a:avLst/>
          </a:prstGeom>
          <a:ln w="0">
            <a:noFill/>
          </a:ln>
        </p:spPr>
      </p:sp>
      <p:sp>
        <p:nvSpPr>
          <p:cNvPr id="32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24"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E1FE3AD-E93A-4DF2-BCDE-3932FA56BFC9}"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sldImg"/>
          </p:nvPr>
        </p:nvSpPr>
        <p:spPr>
          <a:xfrm>
            <a:off x="685800" y="1143000"/>
            <a:ext cx="5486040" cy="3085920"/>
          </a:xfrm>
          <a:prstGeom prst="rect">
            <a:avLst/>
          </a:prstGeom>
          <a:ln w="0">
            <a:noFill/>
          </a:ln>
        </p:spPr>
      </p:sp>
      <p:sp>
        <p:nvSpPr>
          <p:cNvPr id="32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27"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F8460FA-357A-4F97-8C20-699F178C3AE8}"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685800" y="1143000"/>
            <a:ext cx="5486040" cy="3085920"/>
          </a:xfrm>
          <a:prstGeom prst="rect">
            <a:avLst/>
          </a:prstGeom>
          <a:ln w="0">
            <a:noFill/>
          </a:ln>
        </p:spPr>
      </p:sp>
      <p:sp>
        <p:nvSpPr>
          <p:cNvPr id="32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30"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D17056F-E6B2-4178-BA45-D46C1397EF00}"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sldImg"/>
          </p:nvPr>
        </p:nvSpPr>
        <p:spPr>
          <a:xfrm>
            <a:off x="685800" y="1143000"/>
            <a:ext cx="5486040" cy="3085920"/>
          </a:xfrm>
          <a:prstGeom prst="rect">
            <a:avLst/>
          </a:prstGeom>
          <a:ln w="0">
            <a:noFill/>
          </a:ln>
        </p:spPr>
      </p:sp>
      <p:sp>
        <p:nvSpPr>
          <p:cNvPr id="33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33"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4019A1E-9880-4A36-A3BF-A99732398907}"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sldImg"/>
          </p:nvPr>
        </p:nvSpPr>
        <p:spPr>
          <a:xfrm>
            <a:off x="685800" y="1143000"/>
            <a:ext cx="5486040" cy="3085920"/>
          </a:xfrm>
          <a:prstGeom prst="rect">
            <a:avLst/>
          </a:prstGeom>
          <a:ln w="0">
            <a:noFill/>
          </a:ln>
        </p:spPr>
      </p:sp>
      <p:sp>
        <p:nvSpPr>
          <p:cNvPr id="33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36"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B8D0722-B96C-4C2E-BC27-7F93B0DCCA0F}"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Img"/>
          </p:nvPr>
        </p:nvSpPr>
        <p:spPr>
          <a:xfrm>
            <a:off x="685800" y="1143000"/>
            <a:ext cx="5486040" cy="3085920"/>
          </a:xfrm>
          <a:prstGeom prst="rect">
            <a:avLst/>
          </a:prstGeom>
          <a:ln w="0">
            <a:noFill/>
          </a:ln>
        </p:spPr>
      </p:sp>
      <p:sp>
        <p:nvSpPr>
          <p:cNvPr id="33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39"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2A5EF1F-096A-4EDF-B5AE-537B79BC2C9B}"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685800" y="1143000"/>
            <a:ext cx="5486040" cy="3085920"/>
          </a:xfrm>
          <a:prstGeom prst="rect">
            <a:avLst/>
          </a:prstGeom>
          <a:ln w="0">
            <a:noFill/>
          </a:ln>
        </p:spPr>
      </p:sp>
      <p:sp>
        <p:nvSpPr>
          <p:cNvPr id="34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42"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36E5365-5B5C-483A-8438-5130DB955C3F}"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Img"/>
          </p:nvPr>
        </p:nvSpPr>
        <p:spPr>
          <a:xfrm>
            <a:off x="685800" y="1143000"/>
            <a:ext cx="5486040" cy="3085920"/>
          </a:xfrm>
          <a:prstGeom prst="rect">
            <a:avLst/>
          </a:prstGeom>
          <a:ln w="0">
            <a:noFill/>
          </a:ln>
        </p:spPr>
      </p:sp>
      <p:sp>
        <p:nvSpPr>
          <p:cNvPr id="34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45"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540564B-B9BB-40EF-A4F8-59C4E119F9F8}"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sldImg"/>
          </p:nvPr>
        </p:nvSpPr>
        <p:spPr>
          <a:xfrm>
            <a:off x="685800" y="1143000"/>
            <a:ext cx="5486040" cy="3085920"/>
          </a:xfrm>
          <a:prstGeom prst="rect">
            <a:avLst/>
          </a:prstGeom>
          <a:ln w="0">
            <a:noFill/>
          </a:ln>
        </p:spPr>
      </p:sp>
      <p:sp>
        <p:nvSpPr>
          <p:cNvPr id="34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48"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75326EE-2E24-43B7-B3AE-1833B9A01593}"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sldImg"/>
          </p:nvPr>
        </p:nvSpPr>
        <p:spPr>
          <a:xfrm>
            <a:off x="685800" y="1143000"/>
            <a:ext cx="5486040" cy="3085920"/>
          </a:xfrm>
          <a:prstGeom prst="rect">
            <a:avLst/>
          </a:prstGeom>
          <a:ln w="0">
            <a:noFill/>
          </a:ln>
        </p:spPr>
      </p:sp>
      <p:sp>
        <p:nvSpPr>
          <p:cNvPr id="35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51"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9F4CBDE-815A-4F79-B5DD-DF9DEC583871}"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685800" y="1143000"/>
            <a:ext cx="5486040" cy="3085920"/>
          </a:xfrm>
          <a:prstGeom prst="rect">
            <a:avLst/>
          </a:prstGeom>
          <a:ln w="0">
            <a:noFill/>
          </a:ln>
        </p:spPr>
      </p:sp>
      <p:sp>
        <p:nvSpPr>
          <p:cNvPr id="35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54"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F5DA1D7-0EA6-4DA4-86BE-ECED9BB0678D}"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685800" y="1143000"/>
            <a:ext cx="5486040" cy="3085920"/>
          </a:xfrm>
          <a:prstGeom prst="rect">
            <a:avLst/>
          </a:prstGeom>
          <a:ln w="0">
            <a:noFill/>
          </a:ln>
        </p:spPr>
      </p:sp>
      <p:sp>
        <p:nvSpPr>
          <p:cNvPr id="35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57"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FEB0EBA-AF15-4295-A245-254980066C80}"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685800" y="1143000"/>
            <a:ext cx="5486040" cy="3085920"/>
          </a:xfrm>
          <a:prstGeom prst="rect">
            <a:avLst/>
          </a:prstGeom>
          <a:ln w="0">
            <a:noFill/>
          </a:ln>
        </p:spPr>
      </p:sp>
      <p:sp>
        <p:nvSpPr>
          <p:cNvPr id="35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60"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44CD213-FA87-462B-9D6E-152E2F064D6B}"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685800" y="1143000"/>
            <a:ext cx="5486040" cy="3085920"/>
          </a:xfrm>
          <a:prstGeom prst="rect">
            <a:avLst/>
          </a:prstGeom>
          <a:ln w="0">
            <a:noFill/>
          </a:ln>
        </p:spPr>
      </p:sp>
      <p:sp>
        <p:nvSpPr>
          <p:cNvPr id="36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63"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1C1F315-BD0D-4037-AC91-BA0B277DFF9F}"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685800" y="1143000"/>
            <a:ext cx="5486040" cy="3085920"/>
          </a:xfrm>
          <a:prstGeom prst="rect">
            <a:avLst/>
          </a:prstGeom>
          <a:ln w="0">
            <a:noFill/>
          </a:ln>
        </p:spPr>
      </p:sp>
      <p:sp>
        <p:nvSpPr>
          <p:cNvPr id="36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66"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1F62EB6-D202-461B-BCBB-61531180DEA0}"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sldImg"/>
          </p:nvPr>
        </p:nvSpPr>
        <p:spPr>
          <a:xfrm>
            <a:off x="685800" y="1143000"/>
            <a:ext cx="5486040" cy="3085920"/>
          </a:xfrm>
          <a:prstGeom prst="rect">
            <a:avLst/>
          </a:prstGeom>
          <a:ln w="0">
            <a:noFill/>
          </a:ln>
        </p:spPr>
      </p:sp>
      <p:sp>
        <p:nvSpPr>
          <p:cNvPr id="36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69"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BA00F14-1E11-4C04-988E-ED76600364E0}"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sldImg"/>
          </p:nvPr>
        </p:nvSpPr>
        <p:spPr>
          <a:xfrm>
            <a:off x="685800" y="1143000"/>
            <a:ext cx="5486040" cy="3085920"/>
          </a:xfrm>
          <a:prstGeom prst="rect">
            <a:avLst/>
          </a:prstGeom>
          <a:ln w="0">
            <a:noFill/>
          </a:ln>
        </p:spPr>
      </p:sp>
      <p:sp>
        <p:nvSpPr>
          <p:cNvPr id="37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72" name="PlaceHolder 3"/>
          <p:cNvSpPr>
            <a:spLocks noGrp="1"/>
          </p:cNvSpPr>
          <p:nvPr>
            <p:ph type="sldNum" idx="2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DDADEAF-F7B6-4AA0-8F04-40577512A75D}"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sldImg"/>
          </p:nvPr>
        </p:nvSpPr>
        <p:spPr>
          <a:xfrm>
            <a:off x="685800" y="1143000"/>
            <a:ext cx="5486040" cy="3085920"/>
          </a:xfrm>
          <a:prstGeom prst="rect">
            <a:avLst/>
          </a:prstGeom>
          <a:ln w="0">
            <a:noFill/>
          </a:ln>
        </p:spPr>
      </p:sp>
      <p:sp>
        <p:nvSpPr>
          <p:cNvPr id="37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75" name="PlaceHolder 3"/>
          <p:cNvSpPr>
            <a:spLocks noGrp="1"/>
          </p:cNvSpPr>
          <p:nvPr>
            <p:ph type="sldNum" idx="2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8B4946C-1346-4953-8BF6-891F561026C8}"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sldImg"/>
          </p:nvPr>
        </p:nvSpPr>
        <p:spPr>
          <a:xfrm>
            <a:off x="685800" y="1143000"/>
            <a:ext cx="5486040" cy="3085920"/>
          </a:xfrm>
          <a:prstGeom prst="rect">
            <a:avLst/>
          </a:prstGeom>
          <a:ln w="0">
            <a:noFill/>
          </a:ln>
        </p:spPr>
      </p:sp>
      <p:sp>
        <p:nvSpPr>
          <p:cNvPr id="37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78" name="PlaceHolder 3"/>
          <p:cNvSpPr>
            <a:spLocks noGrp="1"/>
          </p:cNvSpPr>
          <p:nvPr>
            <p:ph type="sldNum" idx="2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0D18D8D-4A5A-47BD-ADAA-1A8BEDFF7C79}"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sldImg"/>
          </p:nvPr>
        </p:nvSpPr>
        <p:spPr>
          <a:xfrm>
            <a:off x="685800" y="1143000"/>
            <a:ext cx="5486040" cy="3085920"/>
          </a:xfrm>
          <a:prstGeom prst="rect">
            <a:avLst/>
          </a:prstGeom>
          <a:ln w="0">
            <a:noFill/>
          </a:ln>
        </p:spPr>
      </p:sp>
      <p:sp>
        <p:nvSpPr>
          <p:cNvPr id="38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81" name="PlaceHolder 3"/>
          <p:cNvSpPr>
            <a:spLocks noGrp="1"/>
          </p:cNvSpPr>
          <p:nvPr>
            <p:ph type="sldNum" idx="2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28B6779-D65B-4066-AD53-4C7ACC851837}"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sldImg"/>
          </p:nvPr>
        </p:nvSpPr>
        <p:spPr>
          <a:xfrm>
            <a:off x="685800" y="1143000"/>
            <a:ext cx="5486040" cy="3085920"/>
          </a:xfrm>
          <a:prstGeom prst="rect">
            <a:avLst/>
          </a:prstGeom>
          <a:ln w="0">
            <a:noFill/>
          </a:ln>
        </p:spPr>
      </p:sp>
      <p:sp>
        <p:nvSpPr>
          <p:cNvPr id="38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84" name="PlaceHolder 3"/>
          <p:cNvSpPr>
            <a:spLocks noGrp="1"/>
          </p:cNvSpPr>
          <p:nvPr>
            <p:ph type="sldNum" idx="2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55610BE-345F-4EDB-8622-0DC65825198F}"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sldImg"/>
          </p:nvPr>
        </p:nvSpPr>
        <p:spPr>
          <a:xfrm>
            <a:off x="685800" y="1143000"/>
            <a:ext cx="5486040" cy="3085920"/>
          </a:xfrm>
          <a:prstGeom prst="rect">
            <a:avLst/>
          </a:prstGeom>
          <a:ln w="0">
            <a:noFill/>
          </a:ln>
        </p:spPr>
      </p:sp>
      <p:sp>
        <p:nvSpPr>
          <p:cNvPr id="38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87" name="PlaceHolder 3"/>
          <p:cNvSpPr>
            <a:spLocks noGrp="1"/>
          </p:cNvSpPr>
          <p:nvPr>
            <p:ph type="sldNum" idx="3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7D9DB83-D2CE-4A8B-ADCF-FB9CBCD8B136}"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sldImg"/>
          </p:nvPr>
        </p:nvSpPr>
        <p:spPr>
          <a:xfrm>
            <a:off x="685800" y="1143000"/>
            <a:ext cx="5486040" cy="3085920"/>
          </a:xfrm>
          <a:prstGeom prst="rect">
            <a:avLst/>
          </a:prstGeom>
          <a:ln w="0">
            <a:noFill/>
          </a:ln>
        </p:spPr>
      </p:sp>
      <p:sp>
        <p:nvSpPr>
          <p:cNvPr id="38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90" name="PlaceHolder 3"/>
          <p:cNvSpPr>
            <a:spLocks noGrp="1"/>
          </p:cNvSpPr>
          <p:nvPr>
            <p:ph type="sldNum" idx="3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F58DC1B-7EBF-4590-8EAD-51F2AC3E6A12}"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sldImg"/>
          </p:nvPr>
        </p:nvSpPr>
        <p:spPr>
          <a:xfrm>
            <a:off x="685800" y="1143000"/>
            <a:ext cx="5486040" cy="3085920"/>
          </a:xfrm>
          <a:prstGeom prst="rect">
            <a:avLst/>
          </a:prstGeom>
          <a:ln w="0">
            <a:noFill/>
          </a:ln>
        </p:spPr>
      </p:sp>
      <p:sp>
        <p:nvSpPr>
          <p:cNvPr id="39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93" name="PlaceHolder 3"/>
          <p:cNvSpPr>
            <a:spLocks noGrp="1"/>
          </p:cNvSpPr>
          <p:nvPr>
            <p:ph type="sldNum" idx="3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DE93094-173D-45C8-9475-CBA7FB968812}"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Img"/>
          </p:nvPr>
        </p:nvSpPr>
        <p:spPr>
          <a:xfrm>
            <a:off x="685800" y="1143000"/>
            <a:ext cx="5486040" cy="3085920"/>
          </a:xfrm>
          <a:prstGeom prst="rect">
            <a:avLst/>
          </a:prstGeom>
          <a:ln w="0">
            <a:noFill/>
          </a:ln>
        </p:spPr>
      </p:sp>
      <p:sp>
        <p:nvSpPr>
          <p:cNvPr id="39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96" name="PlaceHolder 3"/>
          <p:cNvSpPr>
            <a:spLocks noGrp="1"/>
          </p:cNvSpPr>
          <p:nvPr>
            <p:ph type="sldNum" idx="3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5E4D679-D27F-47B8-9DF6-2F61C431B875}"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sldImg"/>
          </p:nvPr>
        </p:nvSpPr>
        <p:spPr>
          <a:xfrm>
            <a:off x="685800" y="1143000"/>
            <a:ext cx="5486040" cy="3085920"/>
          </a:xfrm>
          <a:prstGeom prst="rect">
            <a:avLst/>
          </a:prstGeom>
          <a:ln w="0">
            <a:noFill/>
          </a:ln>
        </p:spPr>
      </p:sp>
      <p:sp>
        <p:nvSpPr>
          <p:cNvPr id="39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399" name="PlaceHolder 3"/>
          <p:cNvSpPr>
            <a:spLocks noGrp="1"/>
          </p:cNvSpPr>
          <p:nvPr>
            <p:ph type="sldNum" idx="3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F903192-5F3A-4004-8439-0778FA6DF48E}"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sldImg"/>
          </p:nvPr>
        </p:nvSpPr>
        <p:spPr>
          <a:xfrm>
            <a:off x="685800" y="1143000"/>
            <a:ext cx="5486040" cy="3085920"/>
          </a:xfrm>
          <a:prstGeom prst="rect">
            <a:avLst/>
          </a:prstGeom>
          <a:ln w="0">
            <a:noFill/>
          </a:ln>
        </p:spPr>
      </p:sp>
      <p:sp>
        <p:nvSpPr>
          <p:cNvPr id="40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402" name="PlaceHolder 3"/>
          <p:cNvSpPr>
            <a:spLocks noGrp="1"/>
          </p:cNvSpPr>
          <p:nvPr>
            <p:ph type="sldNum" idx="3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5A7BE13-2A0E-45CF-9F5B-A9698668195F}"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sldImg"/>
          </p:nvPr>
        </p:nvSpPr>
        <p:spPr>
          <a:xfrm>
            <a:off x="685800" y="1143000"/>
            <a:ext cx="5486040" cy="3085920"/>
          </a:xfrm>
          <a:prstGeom prst="rect">
            <a:avLst/>
          </a:prstGeom>
          <a:ln w="0">
            <a:noFill/>
          </a:ln>
        </p:spPr>
      </p:sp>
      <p:sp>
        <p:nvSpPr>
          <p:cNvPr id="40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405" name="PlaceHolder 3"/>
          <p:cNvSpPr>
            <a:spLocks noGrp="1"/>
          </p:cNvSpPr>
          <p:nvPr>
            <p:ph type="sldNum" idx="3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F196345-ED39-4EB3-8142-4642B0896902}"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sldImg"/>
          </p:nvPr>
        </p:nvSpPr>
        <p:spPr>
          <a:xfrm>
            <a:off x="685800" y="1143000"/>
            <a:ext cx="5486040" cy="3085920"/>
          </a:xfrm>
          <a:prstGeom prst="rect">
            <a:avLst/>
          </a:prstGeom>
          <a:ln w="0">
            <a:noFill/>
          </a:ln>
        </p:spPr>
      </p:sp>
      <p:sp>
        <p:nvSpPr>
          <p:cNvPr id="40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408"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3398F19-5814-4004-B7F9-5630C0747D75}"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sldImg"/>
          </p:nvPr>
        </p:nvSpPr>
        <p:spPr>
          <a:xfrm>
            <a:off x="685800" y="1143000"/>
            <a:ext cx="5486040" cy="3085920"/>
          </a:xfrm>
          <a:prstGeom prst="rect">
            <a:avLst/>
          </a:prstGeom>
          <a:ln w="0">
            <a:noFill/>
          </a:ln>
        </p:spPr>
      </p:sp>
      <p:sp>
        <p:nvSpPr>
          <p:cNvPr id="41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411" name="PlaceHolder 3"/>
          <p:cNvSpPr>
            <a:spLocks noGrp="1"/>
          </p:cNvSpPr>
          <p:nvPr>
            <p:ph type="sldNum" idx="3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A95BA83-7F84-49F5-8F31-677CAB40C0F4}"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sldImg"/>
          </p:nvPr>
        </p:nvSpPr>
        <p:spPr>
          <a:xfrm>
            <a:off x="685800" y="1143000"/>
            <a:ext cx="5486040" cy="3085920"/>
          </a:xfrm>
          <a:prstGeom prst="rect">
            <a:avLst/>
          </a:prstGeom>
          <a:ln w="0">
            <a:noFill/>
          </a:ln>
        </p:spPr>
      </p:sp>
      <p:sp>
        <p:nvSpPr>
          <p:cNvPr id="41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414" name="PlaceHolder 3"/>
          <p:cNvSpPr>
            <a:spLocks noGrp="1"/>
          </p:cNvSpPr>
          <p:nvPr>
            <p:ph type="sldNum" idx="3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7495C31-BE91-4A95-B68F-0DC916AA2603}"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sldImg"/>
          </p:nvPr>
        </p:nvSpPr>
        <p:spPr>
          <a:xfrm>
            <a:off x="685800" y="1143000"/>
            <a:ext cx="5486040" cy="3085920"/>
          </a:xfrm>
          <a:prstGeom prst="rect">
            <a:avLst/>
          </a:prstGeom>
          <a:ln w="0">
            <a:noFill/>
          </a:ln>
        </p:spPr>
      </p:sp>
      <p:sp>
        <p:nvSpPr>
          <p:cNvPr id="41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417" name="PlaceHolder 3"/>
          <p:cNvSpPr>
            <a:spLocks noGrp="1"/>
          </p:cNvSpPr>
          <p:nvPr>
            <p:ph type="sldNum" idx="4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D4BC9A6-EA29-4EF4-91B6-C37F06D190AF}"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sldImg"/>
          </p:nvPr>
        </p:nvSpPr>
        <p:spPr>
          <a:xfrm>
            <a:off x="685800" y="1143000"/>
            <a:ext cx="5486040" cy="3085920"/>
          </a:xfrm>
          <a:prstGeom prst="rect">
            <a:avLst/>
          </a:prstGeom>
          <a:ln w="0">
            <a:noFill/>
          </a:ln>
        </p:spPr>
      </p:sp>
      <p:sp>
        <p:nvSpPr>
          <p:cNvPr id="41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420" name="PlaceHolder 3"/>
          <p:cNvSpPr>
            <a:spLocks noGrp="1"/>
          </p:cNvSpPr>
          <p:nvPr>
            <p:ph type="sldNum" idx="4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5312FE0-740A-4A1C-B525-AC7FB05754F1}"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Img"/>
          </p:nvPr>
        </p:nvSpPr>
        <p:spPr>
          <a:xfrm>
            <a:off x="685800" y="1143000"/>
            <a:ext cx="5486040" cy="3085920"/>
          </a:xfrm>
          <a:prstGeom prst="rect">
            <a:avLst/>
          </a:prstGeom>
          <a:ln w="0">
            <a:noFill/>
          </a:ln>
        </p:spPr>
      </p:sp>
      <p:sp>
        <p:nvSpPr>
          <p:cNvPr id="42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423" name="PlaceHolder 3"/>
          <p:cNvSpPr>
            <a:spLocks noGrp="1"/>
          </p:cNvSpPr>
          <p:nvPr>
            <p:ph type="sldNum" idx="4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F91A63C-B3D5-467B-95E1-46045BC35361}"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sldImg"/>
          </p:nvPr>
        </p:nvSpPr>
        <p:spPr>
          <a:xfrm>
            <a:off x="685800" y="1143000"/>
            <a:ext cx="5486040" cy="3085920"/>
          </a:xfrm>
          <a:prstGeom prst="rect">
            <a:avLst/>
          </a:prstGeom>
          <a:ln w="0">
            <a:noFill/>
          </a:ln>
        </p:spPr>
      </p:sp>
      <p:sp>
        <p:nvSpPr>
          <p:cNvPr id="42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AU" sz="1800" spc="-1" strike="noStrike">
              <a:solidFill>
                <a:srgbClr val="000000"/>
              </a:solidFill>
              <a:latin typeface="Arial"/>
            </a:endParaRPr>
          </a:p>
        </p:txBody>
      </p:sp>
      <p:sp>
        <p:nvSpPr>
          <p:cNvPr id="426" name="PlaceHolder 3"/>
          <p:cNvSpPr>
            <a:spLocks noGrp="1"/>
          </p:cNvSpPr>
          <p:nvPr>
            <p:ph type="sldNum" idx="4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9DFE64F-A8AD-4ECF-9D38-53C49626ED45}" type="slidenum">
              <a:rPr b="0" lang="en-US" sz="1200" spc="-1" strike="noStrike">
                <a:solidFill>
                  <a:schemeClr val="dk1"/>
                </a:solidFill>
                <a:latin typeface="+mn-lt"/>
                <a:ea typeface="+mn-ea"/>
              </a:rPr>
              <a:t>&lt;number&gt;</a:t>
            </a:fld>
            <a:endParaRPr b="0" lang="en-AU"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AU" sz="1800" spc="-1" strike="noStrike">
                <a:solidFill>
                  <a:schemeClr val="dk1"/>
                </a:solidFill>
                <a:latin typeface="Calibri"/>
              </a:rPr>
              <a:t>C</a:t>
            </a:r>
            <a:r>
              <a:rPr b="0" lang="en-AU" sz="1800" spc="-1" strike="noStrike">
                <a:solidFill>
                  <a:schemeClr val="dk1"/>
                </a:solidFill>
                <a:latin typeface="Calibri"/>
              </a:rPr>
              <a:t>l</a:t>
            </a:r>
            <a:r>
              <a:rPr b="0" lang="en-AU" sz="1800" spc="-1" strike="noStrike">
                <a:solidFill>
                  <a:schemeClr val="dk1"/>
                </a:solidFill>
                <a:latin typeface="Calibri"/>
              </a:rPr>
              <a:t>i</a:t>
            </a:r>
            <a:r>
              <a:rPr b="0" lang="en-AU" sz="1800" spc="-1" strike="noStrike">
                <a:solidFill>
                  <a:schemeClr val="dk1"/>
                </a:solidFill>
                <a:latin typeface="Calibri"/>
              </a:rPr>
              <a:t>c</a:t>
            </a:r>
            <a:r>
              <a:rPr b="0" lang="en-AU" sz="1800" spc="-1" strike="noStrike">
                <a:solidFill>
                  <a:schemeClr val="dk1"/>
                </a:solidFill>
                <a:latin typeface="Calibri"/>
              </a:rPr>
              <a:t>k</a:t>
            </a:r>
            <a:r>
              <a:rPr b="0" lang="en-AU" sz="1800" spc="-1" strike="noStrike">
                <a:solidFill>
                  <a:schemeClr val="dk1"/>
                </a:solidFill>
                <a:latin typeface="Calibri"/>
              </a:rPr>
              <a:t> </a:t>
            </a:r>
            <a:r>
              <a:rPr b="0" lang="en-AU" sz="1800" spc="-1" strike="noStrike">
                <a:solidFill>
                  <a:schemeClr val="dk1"/>
                </a:solidFill>
                <a:latin typeface="Calibri"/>
              </a:rPr>
              <a:t>t</a:t>
            </a:r>
            <a:r>
              <a:rPr b="0" lang="en-AU" sz="1800" spc="-1" strike="noStrike">
                <a:solidFill>
                  <a:schemeClr val="dk1"/>
                </a:solidFill>
                <a:latin typeface="Calibri"/>
              </a:rPr>
              <a:t>o</a:t>
            </a:r>
            <a:r>
              <a:rPr b="0" lang="en-AU" sz="1800" spc="-1" strike="noStrike">
                <a:solidFill>
                  <a:schemeClr val="dk1"/>
                </a:solidFill>
                <a:latin typeface="Calibri"/>
              </a:rPr>
              <a:t> </a:t>
            </a:r>
            <a:r>
              <a:rPr b="0" lang="en-AU" sz="1800" spc="-1" strike="noStrike">
                <a:solidFill>
                  <a:schemeClr val="dk1"/>
                </a:solidFill>
                <a:latin typeface="Calibri"/>
              </a:rPr>
              <a:t>e</a:t>
            </a:r>
            <a:r>
              <a:rPr b="0" lang="en-AU" sz="1800" spc="-1" strike="noStrike">
                <a:solidFill>
                  <a:schemeClr val="dk1"/>
                </a:solidFill>
                <a:latin typeface="Calibri"/>
              </a:rPr>
              <a:t>d</a:t>
            </a:r>
            <a:r>
              <a:rPr b="0" lang="en-AU" sz="1800" spc="-1" strike="noStrike">
                <a:solidFill>
                  <a:schemeClr val="dk1"/>
                </a:solidFill>
                <a:latin typeface="Calibri"/>
              </a:rPr>
              <a:t>i</a:t>
            </a:r>
            <a:r>
              <a:rPr b="0" lang="en-AU" sz="1800" spc="-1" strike="noStrike">
                <a:solidFill>
                  <a:schemeClr val="dk1"/>
                </a:solidFill>
                <a:latin typeface="Calibri"/>
              </a:rPr>
              <a:t>t</a:t>
            </a:r>
            <a:r>
              <a:rPr b="0" lang="en-AU" sz="1800" spc="-1" strike="noStrike">
                <a:solidFill>
                  <a:schemeClr val="dk1"/>
                </a:solidFill>
                <a:latin typeface="Calibri"/>
              </a:rPr>
              <a:t> </a:t>
            </a:r>
            <a:r>
              <a:rPr b="0" lang="en-AU" sz="1800" spc="-1" strike="noStrike">
                <a:solidFill>
                  <a:schemeClr val="dk1"/>
                </a:solidFill>
                <a:latin typeface="Calibri"/>
              </a:rPr>
              <a:t>t</a:t>
            </a:r>
            <a:r>
              <a:rPr b="0" lang="en-AU" sz="1800" spc="-1" strike="noStrike">
                <a:solidFill>
                  <a:schemeClr val="dk1"/>
                </a:solidFill>
                <a:latin typeface="Calibri"/>
              </a:rPr>
              <a:t>h</a:t>
            </a:r>
            <a:r>
              <a:rPr b="0" lang="en-AU" sz="1800" spc="-1" strike="noStrike">
                <a:solidFill>
                  <a:schemeClr val="dk1"/>
                </a:solidFill>
                <a:latin typeface="Calibri"/>
              </a:rPr>
              <a:t>e</a:t>
            </a:r>
            <a:r>
              <a:rPr b="0" lang="en-AU" sz="1800" spc="-1" strike="noStrike">
                <a:solidFill>
                  <a:schemeClr val="dk1"/>
                </a:solidFill>
                <a:latin typeface="Calibri"/>
              </a:rPr>
              <a:t> </a:t>
            </a:r>
            <a:r>
              <a:rPr b="0" lang="en-AU" sz="1800" spc="-1" strike="noStrike">
                <a:solidFill>
                  <a:schemeClr val="dk1"/>
                </a:solidFill>
                <a:latin typeface="Calibri"/>
              </a:rPr>
              <a:t>t</a:t>
            </a:r>
            <a:r>
              <a:rPr b="0" lang="en-AU" sz="1800" spc="-1" strike="noStrike">
                <a:solidFill>
                  <a:schemeClr val="dk1"/>
                </a:solidFill>
                <a:latin typeface="Calibri"/>
              </a:rPr>
              <a:t>i</a:t>
            </a:r>
            <a:r>
              <a:rPr b="0" lang="en-AU" sz="1800" spc="-1" strike="noStrike">
                <a:solidFill>
                  <a:schemeClr val="dk1"/>
                </a:solidFill>
                <a:latin typeface="Calibri"/>
              </a:rPr>
              <a:t>t</a:t>
            </a:r>
            <a:r>
              <a:rPr b="0" lang="en-AU" sz="1800" spc="-1" strike="noStrike">
                <a:solidFill>
                  <a:schemeClr val="dk1"/>
                </a:solidFill>
                <a:latin typeface="Calibri"/>
              </a:rPr>
              <a:t>l</a:t>
            </a:r>
            <a:r>
              <a:rPr b="0" lang="en-AU" sz="1800" spc="-1" strike="noStrike">
                <a:solidFill>
                  <a:schemeClr val="dk1"/>
                </a:solidFill>
                <a:latin typeface="Calibri"/>
              </a:rPr>
              <a:t>e</a:t>
            </a:r>
            <a:r>
              <a:rPr b="0" lang="en-AU" sz="1800" spc="-1" strike="noStrike">
                <a:solidFill>
                  <a:schemeClr val="dk1"/>
                </a:solidFill>
                <a:latin typeface="Calibri"/>
              </a:rPr>
              <a:t> </a:t>
            </a:r>
            <a:r>
              <a:rPr b="0" lang="en-AU" sz="1800" spc="-1" strike="noStrike">
                <a:solidFill>
                  <a:schemeClr val="dk1"/>
                </a:solidFill>
                <a:latin typeface="Calibri"/>
              </a:rPr>
              <a:t>t</a:t>
            </a:r>
            <a:r>
              <a:rPr b="0" lang="en-AU" sz="1800" spc="-1" strike="noStrike">
                <a:solidFill>
                  <a:schemeClr val="dk1"/>
                </a:solidFill>
                <a:latin typeface="Calibri"/>
              </a:rPr>
              <a:t>e</a:t>
            </a:r>
            <a:r>
              <a:rPr b="0" lang="en-AU" sz="1800" spc="-1" strike="noStrike">
                <a:solidFill>
                  <a:schemeClr val="dk1"/>
                </a:solidFill>
                <a:latin typeface="Calibri"/>
              </a:rPr>
              <a:t>x</a:t>
            </a:r>
            <a:r>
              <a:rPr b="0" lang="en-AU" sz="1800" spc="-1" strike="noStrike">
                <a:solidFill>
                  <a:schemeClr val="dk1"/>
                </a:solidFill>
                <a:latin typeface="Calibri"/>
              </a:rPr>
              <a:t>t</a:t>
            </a:r>
            <a:r>
              <a:rPr b="0" lang="en-AU" sz="1800" spc="-1" strike="noStrike">
                <a:solidFill>
                  <a:schemeClr val="dk1"/>
                </a:solidFill>
                <a:latin typeface="Calibri"/>
              </a:rPr>
              <a:t> </a:t>
            </a:r>
            <a:r>
              <a:rPr b="0" lang="en-AU" sz="1800" spc="-1" strike="noStrike">
                <a:solidFill>
                  <a:schemeClr val="dk1"/>
                </a:solidFill>
                <a:latin typeface="Calibri"/>
              </a:rPr>
              <a:t>f</a:t>
            </a:r>
            <a:r>
              <a:rPr b="0" lang="en-AU" sz="1800" spc="-1" strike="noStrike">
                <a:solidFill>
                  <a:schemeClr val="dk1"/>
                </a:solidFill>
                <a:latin typeface="Calibri"/>
              </a:rPr>
              <a:t>o</a:t>
            </a:r>
            <a:r>
              <a:rPr b="0" lang="en-AU" sz="1800" spc="-1" strike="noStrike">
                <a:solidFill>
                  <a:schemeClr val="dk1"/>
                </a:solidFill>
                <a:latin typeface="Calibri"/>
              </a:rPr>
              <a:t>r</a:t>
            </a:r>
            <a:r>
              <a:rPr b="0" lang="en-AU" sz="1800" spc="-1" strike="noStrike">
                <a:solidFill>
                  <a:schemeClr val="dk1"/>
                </a:solidFill>
                <a:latin typeface="Calibri"/>
              </a:rPr>
              <a:t>m</a:t>
            </a:r>
            <a:r>
              <a:rPr b="0" lang="en-AU" sz="1800" spc="-1" strike="noStrike">
                <a:solidFill>
                  <a:schemeClr val="dk1"/>
                </a:solidFill>
                <a:latin typeface="Calibri"/>
              </a:rPr>
              <a:t>a</a:t>
            </a:r>
            <a:r>
              <a:rPr b="0" lang="en-AU" sz="1800" spc="-1" strike="noStrike">
                <a:solidFill>
                  <a:schemeClr val="dk1"/>
                </a:solidFill>
                <a:latin typeface="Calibri"/>
              </a:rPr>
              <a:t>t</a:t>
            </a:r>
            <a:endParaRPr b="0" lang="en-AU" sz="1800" spc="-1" strike="noStrike">
              <a:solidFill>
                <a:schemeClr val="dk1"/>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fontScale="95303"/>
          </a:bodyPr>
          <a:p>
            <a:pPr marL="432000" indent="-324000">
              <a:spcBef>
                <a:spcPts val="1417"/>
              </a:spcBef>
              <a:buClr>
                <a:srgbClr val="000000"/>
              </a:buClr>
              <a:buSzPct val="45000"/>
              <a:buFont typeface="Wingdings" charset="2"/>
              <a:buChar char=""/>
            </a:pPr>
            <a:r>
              <a:rPr b="0" lang="en-AU" sz="3200" spc="-1" strike="noStrike">
                <a:solidFill>
                  <a:schemeClr val="dk1"/>
                </a:solidFill>
                <a:latin typeface="Calibri"/>
              </a:rPr>
              <a:t>Click to edit the outline text format</a:t>
            </a:r>
            <a:endParaRPr b="0" lang="en-AU"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AU" sz="2400" spc="-1" strike="noStrike">
                <a:solidFill>
                  <a:schemeClr val="dk1"/>
                </a:solidFill>
                <a:latin typeface="Calibri"/>
              </a:rPr>
              <a:t>Second Outline Level</a:t>
            </a:r>
            <a:endParaRPr b="0" lang="en-AU"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AU" sz="2000" spc="-1" strike="noStrike">
                <a:solidFill>
                  <a:schemeClr val="dk1"/>
                </a:solidFill>
                <a:latin typeface="Calibri"/>
              </a:rPr>
              <a:t>Third Outline Level</a:t>
            </a:r>
            <a:endParaRPr b="0" lang="en-AU"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AU" sz="2000" spc="-1" strike="noStrike">
                <a:solidFill>
                  <a:schemeClr val="dk1"/>
                </a:solidFill>
                <a:latin typeface="Calibri"/>
              </a:rPr>
              <a:t>Fourth Outline Level</a:t>
            </a:r>
            <a:endParaRPr b="0" lang="en-AU"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AU" sz="2000" spc="-1" strike="noStrike">
                <a:solidFill>
                  <a:schemeClr val="dk1"/>
                </a:solidFill>
                <a:latin typeface="Calibri"/>
              </a:rPr>
              <a:t>Fifth Outline Level</a:t>
            </a:r>
            <a:endParaRPr b="0" lang="en-AU"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AU" sz="2000" spc="-1" strike="noStrike">
                <a:solidFill>
                  <a:schemeClr val="dk1"/>
                </a:solidFill>
                <a:latin typeface="Calibri"/>
              </a:rPr>
              <a:t>Sixth Outline Level</a:t>
            </a:r>
            <a:endParaRPr b="0" lang="en-AU"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AU" sz="2000" spc="-1" strike="noStrike">
                <a:solidFill>
                  <a:schemeClr val="dk1"/>
                </a:solidFill>
                <a:latin typeface="Calibri"/>
              </a:rPr>
              <a:t>Seventh Outline Level</a:t>
            </a:r>
            <a:endParaRPr b="0" lang="en-AU"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4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128"/>
        </a:solidFill>
      </p:bgPr>
    </p:bg>
    <p:spTree>
      <p:nvGrpSpPr>
        <p:cNvPr id="1" name=""/>
        <p:cNvGrpSpPr/>
        <p:nvPr/>
      </p:nvGrpSpPr>
      <p:grpSpPr>
        <a:xfrm>
          <a:off x="0" y="0"/>
          <a:ext cx="0" cy="0"/>
          <a:chOff x="0" y="0"/>
          <a:chExt cx="0" cy="0"/>
        </a:xfrm>
      </p:grpSpPr>
      <p:sp>
        <p:nvSpPr>
          <p:cNvPr id="8" name="Shape 0"/>
          <p:cNvSpPr/>
          <p:nvPr/>
        </p:nvSpPr>
        <p:spPr>
          <a:xfrm>
            <a:off x="0" y="0"/>
            <a:ext cx="9143640" cy="54360"/>
          </a:xfrm>
          <a:prstGeom prst="rect">
            <a:avLst/>
          </a:prstGeom>
          <a:solidFill>
            <a:srgbClr val="0891b2"/>
          </a:solidFill>
          <a:ln w="0">
            <a:noFill/>
          </a:ln>
        </p:spPr>
        <p:style>
          <a:lnRef idx="0"/>
          <a:fillRef idx="0"/>
          <a:effectRef idx="0"/>
          <a:fontRef idx="minor"/>
        </p:style>
        <p:txBody>
          <a:bodyPr lIns="90000" rIns="90000" tIns="9720" bIns="9720" anchor="t">
            <a:noAutofit/>
          </a:bodyPr>
          <a:p>
            <a:endParaRPr b="0" lang="en-AU" sz="1800" spc="-1" strike="noStrike">
              <a:solidFill>
                <a:srgbClr val="ffffff"/>
              </a:solidFill>
              <a:latin typeface="Arial"/>
            </a:endParaRPr>
          </a:p>
        </p:txBody>
      </p:sp>
      <p:pic>
        <p:nvPicPr>
          <p:cNvPr id="9" name="Image 0" descr="preencoded.png"/>
          <p:cNvPicPr/>
          <p:nvPr/>
        </p:nvPicPr>
        <p:blipFill>
          <a:blip r:embed="rId1"/>
          <a:stretch/>
        </p:blipFill>
        <p:spPr>
          <a:xfrm>
            <a:off x="3886200" y="640080"/>
            <a:ext cx="1371240" cy="1371240"/>
          </a:xfrm>
          <a:prstGeom prst="rect">
            <a:avLst/>
          </a:prstGeom>
          <a:ln w="0">
            <a:noFill/>
          </a:ln>
        </p:spPr>
      </p:pic>
      <p:sp>
        <p:nvSpPr>
          <p:cNvPr id="10" name="Text 1"/>
          <p:cNvSpPr/>
          <p:nvPr/>
        </p:nvSpPr>
        <p:spPr>
          <a:xfrm>
            <a:off x="457200" y="2103120"/>
            <a:ext cx="8229240" cy="914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4000" spc="-1" strike="noStrike">
                <a:solidFill>
                  <a:srgbClr val="ffffff"/>
                </a:solidFill>
                <a:latin typeface="Georgia"/>
                <a:ea typeface="Georgia"/>
              </a:rPr>
              <a:t>Hyperon for AGI → ASI</a:t>
            </a:r>
            <a:endParaRPr b="0" lang="en-AU" sz="4000" spc="-1" strike="noStrike">
              <a:solidFill>
                <a:srgbClr val="ffffff"/>
              </a:solidFill>
              <a:latin typeface="Arial"/>
            </a:endParaRPr>
          </a:p>
        </p:txBody>
      </p:sp>
      <p:sp>
        <p:nvSpPr>
          <p:cNvPr id="11" name="Text 2"/>
          <p:cNvSpPr/>
          <p:nvPr/>
        </p:nvSpPr>
        <p:spPr>
          <a:xfrm>
            <a:off x="914400" y="3017520"/>
            <a:ext cx="7314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800" spc="-1" strike="noStrike">
                <a:solidFill>
                  <a:srgbClr val="22d3ee"/>
                </a:solidFill>
                <a:latin typeface="Calibri"/>
                <a:ea typeface="Calibri"/>
              </a:rPr>
              <a:t>Whitepaper 2025 </a:t>
            </a:r>
            <a:endParaRPr b="0" lang="en-AU" sz="1800" spc="-1" strike="noStrike">
              <a:solidFill>
                <a:srgbClr val="ffffff"/>
              </a:solidFill>
              <a:latin typeface="Arial"/>
            </a:endParaRPr>
          </a:p>
        </p:txBody>
      </p:sp>
      <p:sp>
        <p:nvSpPr>
          <p:cNvPr id="12" name="Text 3"/>
          <p:cNvSpPr/>
          <p:nvPr/>
        </p:nvSpPr>
        <p:spPr>
          <a:xfrm>
            <a:off x="914400" y="3566160"/>
            <a:ext cx="731484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endParaRPr b="0" lang="en-AU" sz="1800" spc="-1" strike="noStrike">
              <a:solidFill>
                <a:srgbClr val="ffffff"/>
              </a:solidFill>
              <a:latin typeface="Arial"/>
            </a:endParaRPr>
          </a:p>
        </p:txBody>
      </p:sp>
      <p:sp>
        <p:nvSpPr>
          <p:cNvPr id="13" name="Text 4"/>
          <p:cNvSpPr/>
          <p:nvPr/>
        </p:nvSpPr>
        <p:spPr>
          <a:xfrm>
            <a:off x="1371600" y="4023360"/>
            <a:ext cx="6400440" cy="731160"/>
          </a:xfrm>
          <a:prstGeom prst="rect">
            <a:avLst/>
          </a:prstGeom>
          <a:noFill/>
          <a:ln w="0">
            <a:noFill/>
          </a:ln>
        </p:spPr>
        <p:style>
          <a:lnRef idx="0"/>
          <a:fillRef idx="0"/>
          <a:effectRef idx="0"/>
          <a:fontRef idx="minor"/>
        </p:style>
        <p:txBody>
          <a:bodyPr lIns="0" rIns="0" tIns="0" bIns="0" anchor="t">
            <a:noAutofit/>
          </a:bodyPr>
          <a:p>
            <a:pPr algn="ctr" defTabSz="914400">
              <a:lnSpc>
                <a:spcPct val="130000"/>
              </a:lnSpc>
              <a:tabLst>
                <a:tab algn="l" pos="0"/>
              </a:tabLst>
            </a:pPr>
            <a:r>
              <a:rPr b="0" lang="en-US" sz="1100" spc="-1" strike="noStrike">
                <a:solidFill>
                  <a:srgbClr val="e0f2fe"/>
                </a:solidFill>
                <a:latin typeface="Calibri"/>
                <a:ea typeface="Calibri"/>
              </a:rPr>
              <a:t>A unified neurosymbolic framework designed to progress from current AI capabilities through AGI to beneficial Artificial Superintelligence, combining scalable transparent reasoning, integrated neural dynamics, typed self-modification, and decentralized governance into a single auditable platform.</a:t>
            </a:r>
            <a:endParaRPr b="0" lang="en-AU" sz="1100" spc="-1" strike="noStrike">
              <a:solidFill>
                <a:srgbClr val="ffffff"/>
              </a:solidFill>
              <a:latin typeface="Arial"/>
            </a:endParaRPr>
          </a:p>
        </p:txBody>
      </p:sp>
      <p:sp>
        <p:nvSpPr>
          <p:cNvPr id="14" name="Shape 5"/>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5" name="Text 6"/>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1 / 40</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6"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17" name="Image 0" descr="preencoded.png"/>
          <p:cNvPicPr/>
          <p:nvPr/>
        </p:nvPicPr>
        <p:blipFill>
          <a:blip r:embed="rId1"/>
          <a:stretch/>
        </p:blipFill>
        <p:spPr>
          <a:xfrm>
            <a:off x="411480" y="274320"/>
            <a:ext cx="383760" cy="383760"/>
          </a:xfrm>
          <a:prstGeom prst="rect">
            <a:avLst/>
          </a:prstGeom>
          <a:ln w="0">
            <a:noFill/>
          </a:ln>
        </p:spPr>
      </p:pic>
      <p:sp>
        <p:nvSpPr>
          <p:cNvPr id="18"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Core Vision: An OS for Cognition</a:t>
            </a:r>
            <a:endParaRPr b="0" lang="en-AU" sz="2400" spc="-1" strike="noStrike">
              <a:solidFill>
                <a:srgbClr val="000000"/>
              </a:solidFill>
              <a:latin typeface="Arial"/>
            </a:endParaRPr>
          </a:p>
        </p:txBody>
      </p:sp>
      <p:sp>
        <p:nvSpPr>
          <p:cNvPr id="19"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20"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Hyperon fundamentally reimagines how an AGI system should be built. Most contemporary approaches either train a single large deep neural network and patch its weaknesses with external tooling, or stitch together hybrid systems from loosely coupled subsystems for neural processing, symbolic reasoning, and knowledge storage. Both strategies suffer from narrow communication interfaces that create semantic bottlenecks and prevent genuine cognitive synergy.</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Hyperon takes a radically different path by providing a unified, integrated software and conceptual foundation where multiple AI processes carrying out different forms of computation can coexist, cooperate, and synergize at a fundamental level. Think of it as an operating system designed specifically for cognition — one where concepts, facts, goals, procedures, and neural network components all exist as first-class citizens in a shared knowledge metagraph.</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Unlike a standard computer OS, whose job is partly to keep different processes separated, a cognitive OS must do something more subtle: it must help different concurrent cognitive processes interoperate appropriately — staying out of each other's way when beneficial, or sharing information to assist one another when collaboration is what's needed.</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This unified approach solves two critical problems in AGI development. First, no single approach to intelligence — whether pattern recognition, reasoning, or evolutionary learning — can solve all the challenges of human-level AGI on its own. Second, forcing different types of intelligence to communicate through rigid, narrow interfaces creates unacceptable friction and inefficiency. Logic, neural modeling, and evolutionary methods are each excellent at different aspects of AGI, but fitting them together naively leads to compounding integration issues that Hyperon eliminates by design.</a:t>
            </a:r>
            <a:endParaRPr b="0" lang="en-AU" sz="1050" spc="-1" strike="noStrike">
              <a:solidFill>
                <a:srgbClr val="000000"/>
              </a:solidFill>
              <a:latin typeface="Arial"/>
            </a:endParaRPr>
          </a:p>
        </p:txBody>
      </p:sp>
      <p:sp>
        <p:nvSpPr>
          <p:cNvPr id="21"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22"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2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3d"/>
        </a:solidFill>
      </p:bgPr>
    </p:bg>
    <p:spTree>
      <p:nvGrpSpPr>
        <p:cNvPr id="1" name=""/>
        <p:cNvGrpSpPr/>
        <p:nvPr/>
      </p:nvGrpSpPr>
      <p:grpSpPr>
        <a:xfrm>
          <a:off x="0" y="0"/>
          <a:ext cx="0" cy="0"/>
          <a:chOff x="0" y="0"/>
          <a:chExt cx="0" cy="0"/>
        </a:xfrm>
      </p:grpSpPr>
      <p:sp>
        <p:nvSpPr>
          <p:cNvPr id="23" name="Shape 0"/>
          <p:cNvSpPr/>
          <p:nvPr/>
        </p:nvSpPr>
        <p:spPr>
          <a:xfrm>
            <a:off x="0" y="0"/>
            <a:ext cx="9143640" cy="54360"/>
          </a:xfrm>
          <a:prstGeom prst="rect">
            <a:avLst/>
          </a:prstGeom>
          <a:solidFill>
            <a:srgbClr val="22d3ee"/>
          </a:solidFill>
          <a:ln w="0">
            <a:noFill/>
          </a:ln>
        </p:spPr>
        <p:style>
          <a:lnRef idx="0"/>
          <a:fillRef idx="0"/>
          <a:effectRef idx="0"/>
          <a:fontRef idx="minor"/>
        </p:style>
        <p:txBody>
          <a:bodyPr lIns="90000" rIns="90000" tIns="9720" bIns="9720" anchor="t">
            <a:noAutofit/>
          </a:bodyPr>
          <a:p>
            <a:endParaRPr b="0" lang="en-AU" sz="1800" spc="-1" strike="noStrike">
              <a:solidFill>
                <a:srgbClr val="000000"/>
              </a:solidFill>
              <a:latin typeface="Arial"/>
            </a:endParaRPr>
          </a:p>
        </p:txBody>
      </p:sp>
      <p:sp>
        <p:nvSpPr>
          <p:cNvPr id="24" name="Text 1"/>
          <p:cNvSpPr/>
          <p:nvPr/>
        </p:nvSpPr>
        <p:spPr>
          <a:xfrm>
            <a:off x="731520" y="914400"/>
            <a:ext cx="1828440" cy="1462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0" spc="-1" strike="noStrike">
                <a:solidFill>
                  <a:srgbClr val="0891b2"/>
                </a:solidFill>
                <a:latin typeface="Georgia"/>
                <a:ea typeface="Georgia"/>
              </a:rPr>
              <a:t>01</a:t>
            </a:r>
            <a:endParaRPr b="0" lang="en-AU" sz="7200" spc="-1" strike="noStrike">
              <a:solidFill>
                <a:srgbClr val="ffffff"/>
              </a:solidFill>
              <a:latin typeface="Arial"/>
            </a:endParaRPr>
          </a:p>
        </p:txBody>
      </p:sp>
      <p:sp>
        <p:nvSpPr>
          <p:cNvPr id="25" name="Text 2"/>
          <p:cNvSpPr/>
          <p:nvPr/>
        </p:nvSpPr>
        <p:spPr>
          <a:xfrm>
            <a:off x="731520" y="2377440"/>
            <a:ext cx="768060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ffffff"/>
                </a:solidFill>
                <a:latin typeface="Georgia"/>
                <a:ea typeface="Georgia"/>
              </a:rPr>
              <a:t>Hyperon System Design</a:t>
            </a:r>
            <a:endParaRPr b="0" lang="en-AU" sz="3200" spc="-1" strike="noStrike">
              <a:solidFill>
                <a:srgbClr val="ffffff"/>
              </a:solidFill>
              <a:latin typeface="Arial"/>
            </a:endParaRPr>
          </a:p>
        </p:txBody>
      </p:sp>
      <p:sp>
        <p:nvSpPr>
          <p:cNvPr id="26" name="Text 3"/>
          <p:cNvSpPr/>
          <p:nvPr/>
        </p:nvSpPr>
        <p:spPr>
          <a:xfrm>
            <a:off x="731520" y="3154680"/>
            <a:ext cx="7314840" cy="1096920"/>
          </a:xfrm>
          <a:prstGeom prst="rect">
            <a:avLst/>
          </a:prstGeom>
          <a:noFill/>
          <a:ln w="0">
            <a:noFill/>
          </a:ln>
        </p:spPr>
        <p:style>
          <a:lnRef idx="0"/>
          <a:fillRef idx="0"/>
          <a:effectRef idx="0"/>
          <a:fontRef idx="minor"/>
        </p:style>
        <p:txBody>
          <a:bodyPr lIns="0" rIns="0" tIns="0" bIns="0" anchor="t">
            <a:noAutofit/>
          </a:bodyPr>
          <a:p>
            <a:pPr defTabSz="914400">
              <a:lnSpc>
                <a:spcPct val="135000"/>
              </a:lnSpc>
              <a:tabLst>
                <a:tab algn="l" pos="0"/>
              </a:tabLst>
            </a:pPr>
            <a:r>
              <a:rPr b="0" lang="en-US" sz="1400" spc="-1" strike="noStrike">
                <a:solidFill>
                  <a:srgbClr val="e0f2fe"/>
                </a:solidFill>
                <a:latin typeface="Calibri"/>
                <a:ea typeface="Calibri"/>
              </a:rPr>
              <a:t>Atomspace, MORK, the Space API, neural integration modes, distributed execution, and state management — the foundational infrastructure that makes cognitive computing practical and scalable.</a:t>
            </a:r>
            <a:endParaRPr b="0" lang="en-AU" sz="1400" spc="-1" strike="noStrike">
              <a:solidFill>
                <a:srgbClr val="ffffff"/>
              </a:solidFill>
              <a:latin typeface="Arial"/>
            </a:endParaRPr>
          </a:p>
        </p:txBody>
      </p:sp>
      <p:sp>
        <p:nvSpPr>
          <p:cNvPr id="27" name="Shape 4"/>
          <p:cNvSpPr/>
          <p:nvPr/>
        </p:nvSpPr>
        <p:spPr>
          <a:xfrm>
            <a:off x="0" y="4892040"/>
            <a:ext cx="9143640" cy="251280"/>
          </a:xfrm>
          <a:prstGeom prst="rect">
            <a:avLst/>
          </a:prstGeom>
          <a:solidFill>
            <a:srgbClr val="0a1128"/>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28"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4748b"/>
                </a:solidFill>
                <a:latin typeface="Calibri"/>
                <a:ea typeface="Calibri"/>
              </a:rPr>
              <a:t>3 / 40</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9"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30" name="Image 0" descr="preencoded.png"/>
          <p:cNvPicPr/>
          <p:nvPr/>
        </p:nvPicPr>
        <p:blipFill>
          <a:blip r:embed="rId1"/>
          <a:stretch/>
        </p:blipFill>
        <p:spPr>
          <a:xfrm>
            <a:off x="411480" y="274320"/>
            <a:ext cx="383760" cy="383760"/>
          </a:xfrm>
          <a:prstGeom prst="rect">
            <a:avLst/>
          </a:prstGeom>
          <a:ln w="0">
            <a:noFill/>
          </a:ln>
        </p:spPr>
      </p:pic>
      <p:sp>
        <p:nvSpPr>
          <p:cNvPr id="31"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Atomspace: The Universal Cognitive Substrate</a:t>
            </a:r>
            <a:endParaRPr b="0" lang="en-AU" sz="2400" spc="-1" strike="noStrike">
              <a:solidFill>
                <a:srgbClr val="000000"/>
              </a:solidFill>
              <a:latin typeface="Arial"/>
            </a:endParaRPr>
          </a:p>
        </p:txBody>
      </p:sp>
      <p:sp>
        <p:nvSpPr>
          <p:cNvPr id="32"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33"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At Hyperon's heart lies the Atomspace — a typed, content-addressed, flexibly traversable metagraph serving as the universal substrate for all cognitive activity. Every piece of knowledge, whether a fact, a procedure, a neural network node or link, or a control signal, is represented as an 'Atom' that other components can directly access and manipulate.</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Atomspace is implemented as a metagraph where Atoms can represent anything from simple propositions to complex procedures, from neural network weights to system control signals. The power comes from how they are organized and accessed. Content addressing means every atom is identifiable by its content, enabling deduplication, efficient lookup, and cryptographic verification.</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Behind the Atomspace sits multiple possible back-ends with different performance characteristics. The most developed of these is MORK, a high-performance engine that makes the Atomspace approach practical for real-world AGI workloads. MORK provides a Merkle-DAG/PathMap trie structure enabling near-constant time lookups, lock-free updates for concurrent access, and memory layouts supporting both symbolic operations and dense numeric computations.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MeTTa programming language encapsulates cognitive transformations on Atomspace as coupled metagraph rewrite rules. MeTTa programs are themselves parts of Atomspace — a deep self-referential recursion enabling both efficient implementation of complex cognitive algorithms and system-level reflection critical for self-understanding, self-modification, and the path to ethical superintelligence.</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system scales through DAS (Distributed Atomspace) which extends the unified space across clusters, while RSpace/Rholang integration via the MettaCycle infrastructure enables capability-secured execution for blockchain-based provenance tracking.</a:t>
            </a:r>
            <a:endParaRPr b="0" lang="en-AU" sz="1050" spc="-1" strike="noStrike">
              <a:solidFill>
                <a:srgbClr val="000000"/>
              </a:solidFill>
              <a:latin typeface="Arial"/>
            </a:endParaRPr>
          </a:p>
        </p:txBody>
      </p:sp>
      <p:sp>
        <p:nvSpPr>
          <p:cNvPr id="34"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35"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4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6"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37" name="Image 0" descr="preencoded.png"/>
          <p:cNvPicPr/>
          <p:nvPr/>
        </p:nvPicPr>
        <p:blipFill>
          <a:blip r:embed="rId1"/>
          <a:stretch/>
        </p:blipFill>
        <p:spPr>
          <a:xfrm>
            <a:off x="411480" y="274320"/>
            <a:ext cx="383760" cy="383760"/>
          </a:xfrm>
          <a:prstGeom prst="rect">
            <a:avLst/>
          </a:prstGeom>
          <a:ln w="0">
            <a:noFill/>
          </a:ln>
        </p:spPr>
      </p:pic>
      <p:sp>
        <p:nvSpPr>
          <p:cNvPr id="38"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The Space API: A Universal Interface</a:t>
            </a:r>
            <a:endParaRPr b="0" lang="en-AU" sz="2400" spc="-1" strike="noStrike">
              <a:solidFill>
                <a:srgbClr val="000000"/>
              </a:solidFill>
              <a:latin typeface="Arial"/>
            </a:endParaRPr>
          </a:p>
        </p:txBody>
      </p:sp>
      <p:sp>
        <p:nvSpPr>
          <p:cNvPr id="39"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40"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The Atomspace is Hyperon's digital brain tissue — a uniform substrate where different types of processing and data coexist and interact. But just as the biological brain has specialized regions, Hyperon has 'Spaces' — specialized environments that plug into the Atomspace while maintaining a consistent interface.</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A Space might be an in-RAM knowledge graph adaptively updated by reasoning and learning algorithms, a distributed database shard, a connection to a neural network service, or even a blockchain-based smart contract executor. The essential design insight is that MeTTa code is largely Space-independent — pattern matching, rule firing, and data manipulation all work the same way regardless of the underlying implementation.</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Different Spaces may use different back-ends: some might use MORK for high-performance in-RAM processing, others might use JeTTa for running on Android devices, and still others might use floating-point-centric representations optimized for neural networks.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Space API defines a standard interface that any backend can implement. Core operations — match, bind, and rewrite — work consistently whether you're accessing local RAM, querying a distributed database, or invoking a neural network. Example Space types include MORK-backed Atomspace for scalable cognitive processing, DAS for distributed storage and large-scale queries, Rholang Atomspace for concurrent capability-secured execution, and Neural Spaces that make deep learning models appear as queryable knowledge stores.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This abstraction layer means cognitive processes can seamlessly span different computational substrates without requiring special-case code for each backend, enabling a truly heterogeneous computing fabric unified under a single cognitive interface.</a:t>
            </a:r>
            <a:endParaRPr b="0" lang="en-AU" sz="1050" spc="-1" strike="noStrike">
              <a:solidFill>
                <a:srgbClr val="000000"/>
              </a:solidFill>
              <a:latin typeface="Arial"/>
            </a:endParaRPr>
          </a:p>
        </p:txBody>
      </p:sp>
      <p:sp>
        <p:nvSpPr>
          <p:cNvPr id="41"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42"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5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43"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44" name="Image 0" descr="preencoded.png"/>
          <p:cNvPicPr/>
          <p:nvPr/>
        </p:nvPicPr>
        <p:blipFill>
          <a:blip r:embed="rId1"/>
          <a:stretch/>
        </p:blipFill>
        <p:spPr>
          <a:xfrm>
            <a:off x="411480" y="274320"/>
            <a:ext cx="383760" cy="383760"/>
          </a:xfrm>
          <a:prstGeom prst="rect">
            <a:avLst/>
          </a:prstGeom>
          <a:ln w="0">
            <a:noFill/>
          </a:ln>
        </p:spPr>
      </p:pic>
      <p:sp>
        <p:nvSpPr>
          <p:cNvPr id="45"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MORK: The High-Performance Core Engine</a:t>
            </a:r>
            <a:endParaRPr b="0" lang="en-AU" sz="2400" spc="-1" strike="noStrike">
              <a:solidFill>
                <a:srgbClr val="000000"/>
              </a:solidFill>
              <a:latin typeface="Arial"/>
            </a:endParaRPr>
          </a:p>
        </p:txBody>
      </p:sp>
      <p:sp>
        <p:nvSpPr>
          <p:cNvPr id="46"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47"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MORK is where much of the real computational work of Hyperon cognition happens. It stores the Atomspace metagraph in a highly optimized, content-addressed trie structure that provides both the performance needed for real-time cognition and the flexibility needed for diverse cognitive operations.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key innovation is the PathMap/Merkle-DAG structure. Every Atom gets placed at a unique location in a prefix-compressed trie. Since nodes are immutable, updates create new versions rather than modifying existing ones. Writers prepare their changes as compact 'deltas' that get merged atomically, meaning readers always see consistent data even while multiple writers are active. The data structure is optimized for efficient pattern matching and unification queries, which lie at the core of most AGI-oriented algorithms.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This architecture solves a critical problem: how to let dozens of different cognitive processes — inference, learning, pattern mining, attention allocation — all operate simultaneously on the same large-scale knowledge graph without creating synchronization bottlenecks.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MORK also supports Weighted Atom Sweeps (WAS), which combine garbage collection with attention management. Each node carries an aggregate weight that bubbles up from its children, creating a probability tree where you can efficiently sample Atoms according to any importance measure — recency, relevance, uncertainty, or any custom metric. Two traversal strategies are provided: weighted random walks that descend by probabilistic child selection, and chunked priority queues for systematic high-priority processing.</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For dense kernels, two complementary approaches are planned: ShardZipper for deterministic batch processing with full Merkle integrity, and ByteFlow for dynamic scenarios where hot regions drift over time, continuously repacking frequently-accessed subtrees for optimal kernel performance.</a:t>
            </a:r>
            <a:endParaRPr b="0" lang="en-AU" sz="1050" spc="-1" strike="noStrike">
              <a:solidFill>
                <a:srgbClr val="000000"/>
              </a:solidFill>
              <a:latin typeface="Arial"/>
            </a:endParaRPr>
          </a:p>
        </p:txBody>
      </p:sp>
      <p:sp>
        <p:nvSpPr>
          <p:cNvPr id="48"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49"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6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50"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51" name="Image 0" descr="preencoded.png"/>
          <p:cNvPicPr/>
          <p:nvPr/>
        </p:nvPicPr>
        <p:blipFill>
          <a:blip r:embed="rId1"/>
          <a:stretch/>
        </p:blipFill>
        <p:spPr>
          <a:xfrm>
            <a:off x="411480" y="274320"/>
            <a:ext cx="383760" cy="383760"/>
          </a:xfrm>
          <a:prstGeom prst="rect">
            <a:avLst/>
          </a:prstGeom>
          <a:ln w="0">
            <a:noFill/>
          </a:ln>
        </p:spPr>
      </p:pic>
      <p:sp>
        <p:nvSpPr>
          <p:cNvPr id="52"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Neural Network Integration: Two Paths</a:t>
            </a:r>
            <a:endParaRPr b="0" lang="en-AU" sz="2400" spc="-1" strike="noStrike">
              <a:solidFill>
                <a:srgbClr val="000000"/>
              </a:solidFill>
              <a:latin typeface="Arial"/>
            </a:endParaRPr>
          </a:p>
        </p:txBody>
      </p:sp>
      <p:sp>
        <p:nvSpPr>
          <p:cNvPr id="53"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54" name="Shape 3"/>
          <p:cNvSpPr/>
          <p:nvPr/>
        </p:nvSpPr>
        <p:spPr>
          <a:xfrm>
            <a:off x="411480" y="1051560"/>
            <a:ext cx="3931560" cy="365724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55" name="Text 4"/>
          <p:cNvSpPr/>
          <p:nvPr/>
        </p:nvSpPr>
        <p:spPr>
          <a:xfrm>
            <a:off x="594360" y="1097280"/>
            <a:ext cx="35658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0891b2"/>
                </a:solidFill>
                <a:latin typeface="Georgia"/>
                <a:ea typeface="Georgia"/>
              </a:rPr>
              <a:t>Outside Mode: Pragmatic Integration</a:t>
            </a:r>
            <a:endParaRPr b="0" lang="en-AU" sz="1300" spc="-1" strike="noStrike">
              <a:solidFill>
                <a:srgbClr val="000000"/>
              </a:solidFill>
              <a:latin typeface="Arial"/>
            </a:endParaRPr>
          </a:p>
        </p:txBody>
      </p:sp>
      <p:sp>
        <p:nvSpPr>
          <p:cNvPr id="56" name="Text 5"/>
          <p:cNvSpPr/>
          <p:nvPr/>
        </p:nvSpPr>
        <p:spPr>
          <a:xfrm>
            <a:off x="594360" y="1463040"/>
            <a:ext cx="3565800" cy="3108600"/>
          </a:xfrm>
          <a:prstGeom prst="rect">
            <a:avLst/>
          </a:prstGeom>
          <a:noFill/>
          <a:ln w="0">
            <a:noFill/>
          </a:ln>
        </p:spPr>
        <p:style>
          <a:lnRef idx="0"/>
          <a:fillRef idx="0"/>
          <a:effectRef idx="0"/>
          <a:fontRef idx="minor"/>
        </p:style>
        <p:txBody>
          <a:bodyPr lIns="0" rIns="0" tIns="0" bIns="0" anchor="t">
            <a:noAutofit/>
          </a:bodyPr>
          <a:p>
            <a:pPr defTabSz="914400">
              <a:lnSpc>
                <a:spcPct val="125000"/>
              </a:lnSpc>
              <a:tabLst>
                <a:tab algn="l" pos="0"/>
              </a:tabLst>
            </a:pPr>
            <a:r>
              <a:rPr b="0" lang="en-US" sz="1000" spc="-1" strike="noStrike">
                <a:solidFill>
                  <a:srgbClr val="1e293b"/>
                </a:solidFill>
                <a:latin typeface="Calibri"/>
                <a:ea typeface="Calibri"/>
              </a:rPr>
              <a:t>In 'outside' mode, existing neural networks — large language models, vision systems, specialized networks — run as external services but are wrapped to appear as native Hyperon Spaces. Their outputs, including embeddings, predictions, and attention patterns, become Atoms that symbolic reasoning can directly manipulate.</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This approach offers immediate compatibility with existing models and frameworks while still enabling meaningful integration. Your favorite LLM or vision model can contribute to reasoning without any modification to the underlying neural architecture.</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Symbolic Heads augment each Transformer layer with a discrete memory system — a structured notebook where the model can store and retrieve templates, rules, and patterns that complement its continuous representations.</a:t>
            </a:r>
            <a:endParaRPr b="0" lang="en-AU" sz="1000" spc="-1" strike="noStrike">
              <a:solidFill>
                <a:srgbClr val="000000"/>
              </a:solidFill>
              <a:latin typeface="Arial"/>
            </a:endParaRPr>
          </a:p>
        </p:txBody>
      </p:sp>
      <p:sp>
        <p:nvSpPr>
          <p:cNvPr id="57" name="Shape 6"/>
          <p:cNvSpPr/>
          <p:nvPr/>
        </p:nvSpPr>
        <p:spPr>
          <a:xfrm>
            <a:off x="4754880" y="1051560"/>
            <a:ext cx="3931560" cy="365724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58" name="Text 7"/>
          <p:cNvSpPr/>
          <p:nvPr/>
        </p:nvSpPr>
        <p:spPr>
          <a:xfrm>
            <a:off x="4937760" y="1097280"/>
            <a:ext cx="35658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0891b2"/>
                </a:solidFill>
                <a:latin typeface="Georgia"/>
                <a:ea typeface="Georgia"/>
              </a:rPr>
              <a:t>Inside Mode: QuantiMORK Deep Unification</a:t>
            </a:r>
            <a:endParaRPr b="0" lang="en-AU" sz="1300" spc="-1" strike="noStrike">
              <a:solidFill>
                <a:srgbClr val="000000"/>
              </a:solidFill>
              <a:latin typeface="Arial"/>
            </a:endParaRPr>
          </a:p>
        </p:txBody>
      </p:sp>
      <p:sp>
        <p:nvSpPr>
          <p:cNvPr id="59" name="Text 8"/>
          <p:cNvSpPr/>
          <p:nvPr/>
        </p:nvSpPr>
        <p:spPr>
          <a:xfrm>
            <a:off x="4937760" y="1463040"/>
            <a:ext cx="3565800" cy="3108600"/>
          </a:xfrm>
          <a:prstGeom prst="rect">
            <a:avLst/>
          </a:prstGeom>
          <a:noFill/>
          <a:ln w="0">
            <a:noFill/>
          </a:ln>
        </p:spPr>
        <p:style>
          <a:lnRef idx="0"/>
          <a:fillRef idx="0"/>
          <a:effectRef idx="0"/>
          <a:fontRef idx="minor"/>
        </p:style>
        <p:txBody>
          <a:bodyPr lIns="0" rIns="0" tIns="0" bIns="0" anchor="t">
            <a:noAutofit/>
          </a:bodyPr>
          <a:p>
            <a:pPr defTabSz="914400">
              <a:lnSpc>
                <a:spcPct val="125000"/>
              </a:lnSpc>
              <a:tabLst>
                <a:tab algn="l" pos="0"/>
              </a:tabLst>
            </a:pPr>
            <a:r>
              <a:rPr b="0" lang="en-US" sz="1000" spc="-1" strike="noStrike">
                <a:solidFill>
                  <a:srgbClr val="1e293b"/>
                </a:solidFill>
                <a:latin typeface="Calibri"/>
                <a:ea typeface="Calibri"/>
              </a:rPr>
              <a:t>The 'inside' mode through QuantiMORK represents a more radical fusion. Neural network tensors are encoded as multiresolution DAGs directly within MORK's PathMap structure using wavelet decompositions.</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This enables tensor operations on the same structures storing symbolic knowledge, symbolic rules directly orchestrating neural computations, pattern mining identifying features that become attention heads in real-time, and selective computation expansion only where uncertainty is high.</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Predictive coding replaces global backpropagation with local updates. Each level maintains local predictions and errors. Updates flow bidirectionally through local message passing rather than requiring a global backward pass — dramatically improving efficiency and enabling asynchronous updates.</a:t>
            </a:r>
            <a:endParaRPr b="0" lang="en-AU" sz="1000" spc="-1" strike="noStrike">
              <a:solidFill>
                <a:srgbClr val="000000"/>
              </a:solidFill>
              <a:latin typeface="Arial"/>
            </a:endParaRPr>
          </a:p>
        </p:txBody>
      </p:sp>
      <p:sp>
        <p:nvSpPr>
          <p:cNvPr id="60" name="Shape 9"/>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61" name="Text 10"/>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7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2"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63" name="Image 0" descr="preencoded.png"/>
          <p:cNvPicPr/>
          <p:nvPr/>
        </p:nvPicPr>
        <p:blipFill>
          <a:blip r:embed="rId1"/>
          <a:stretch/>
        </p:blipFill>
        <p:spPr>
          <a:xfrm>
            <a:off x="411480" y="274320"/>
            <a:ext cx="383760" cy="383760"/>
          </a:xfrm>
          <a:prstGeom prst="rect">
            <a:avLst/>
          </a:prstGeom>
          <a:ln w="0">
            <a:noFill/>
          </a:ln>
        </p:spPr>
      </p:pic>
      <p:sp>
        <p:nvSpPr>
          <p:cNvPr id="64"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Distributed Execution and Scaling</a:t>
            </a:r>
            <a:endParaRPr b="0" lang="en-AU" sz="2400" spc="-1" strike="noStrike">
              <a:solidFill>
                <a:srgbClr val="000000"/>
              </a:solidFill>
              <a:latin typeface="Arial"/>
            </a:endParaRPr>
          </a:p>
        </p:txBody>
      </p:sp>
      <p:sp>
        <p:nvSpPr>
          <p:cNvPr id="65"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66"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While MORK makes great headway in packing data and processing into a single machine's RAM, real-world AGI systems need to scale beyond individual machines. DAS (Distributed Atomspace) extends Hyperon's unified cognitive space across clusters while preserving the illusion of a single, coherent Atomspace.</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DAS uses MongoDB and Redis to shard the metagraph, maintaining indexes that support efficient traversal, property queries, and pattern matching at scale. From MeTTa code's perspective, there is no difference between querying local Atoms and those stored across a cluster — the Space API handles routing transparently.</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For scenarios requiring multi-party collaboration or high-security execution, Hyperon's MettaCycle layer supports running MeTTa code as Rholang processes on RSpace. This provides capability-based security with fine-grained control over code access, on-chain provenance with cryptographically verifiable execution history, and distributed consensus allowing multiple parties to contribute to cognitive processes.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State Management Subsystem (SMS) captures state changes as AtomspaceUpdate patches bundling link insertions and weight modifications from each cognitive epoch. It maintains CheckpointRef snapshots for full recovery, UpdatePatch incremental changes, ChangeDigest summaries for quick difference detection, and InfluenceSketch approximate impact assessments. SMS uses CRDT G-counters for edge weights, ensuring clean merges across distributed replicas without synchronization overhead.</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This architecture enables collaborative AI development where different organizations can contribute cognitive modules while maintaining security, attribution, and full audit trails.</a:t>
            </a:r>
            <a:endParaRPr b="0" lang="en-AU" sz="1050" spc="-1" strike="noStrike">
              <a:solidFill>
                <a:srgbClr val="000000"/>
              </a:solidFill>
              <a:latin typeface="Arial"/>
            </a:endParaRPr>
          </a:p>
        </p:txBody>
      </p:sp>
      <p:sp>
        <p:nvSpPr>
          <p:cNvPr id="67"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68"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8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3d"/>
        </a:solidFill>
      </p:bgPr>
    </p:bg>
    <p:spTree>
      <p:nvGrpSpPr>
        <p:cNvPr id="1" name=""/>
        <p:cNvGrpSpPr/>
        <p:nvPr/>
      </p:nvGrpSpPr>
      <p:grpSpPr>
        <a:xfrm>
          <a:off x="0" y="0"/>
          <a:ext cx="0" cy="0"/>
          <a:chOff x="0" y="0"/>
          <a:chExt cx="0" cy="0"/>
        </a:xfrm>
      </p:grpSpPr>
      <p:sp>
        <p:nvSpPr>
          <p:cNvPr id="69" name="Shape 0"/>
          <p:cNvSpPr/>
          <p:nvPr/>
        </p:nvSpPr>
        <p:spPr>
          <a:xfrm>
            <a:off x="0" y="0"/>
            <a:ext cx="9143640" cy="54360"/>
          </a:xfrm>
          <a:prstGeom prst="rect">
            <a:avLst/>
          </a:prstGeom>
          <a:solidFill>
            <a:srgbClr val="22d3ee"/>
          </a:solidFill>
          <a:ln w="0">
            <a:noFill/>
          </a:ln>
        </p:spPr>
        <p:style>
          <a:lnRef idx="0"/>
          <a:fillRef idx="0"/>
          <a:effectRef idx="0"/>
          <a:fontRef idx="minor"/>
        </p:style>
        <p:txBody>
          <a:bodyPr lIns="90000" rIns="90000" tIns="9720" bIns="9720" anchor="t">
            <a:noAutofit/>
          </a:bodyPr>
          <a:p>
            <a:endParaRPr b="0" lang="en-AU" sz="1800" spc="-1" strike="noStrike">
              <a:solidFill>
                <a:srgbClr val="000000"/>
              </a:solidFill>
              <a:latin typeface="Arial"/>
            </a:endParaRPr>
          </a:p>
        </p:txBody>
      </p:sp>
      <p:sp>
        <p:nvSpPr>
          <p:cNvPr id="70" name="Text 1"/>
          <p:cNvSpPr/>
          <p:nvPr/>
        </p:nvSpPr>
        <p:spPr>
          <a:xfrm>
            <a:off x="731520" y="914400"/>
            <a:ext cx="1828440" cy="1462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0" spc="-1" strike="noStrike">
                <a:solidFill>
                  <a:srgbClr val="0891b2"/>
                </a:solidFill>
                <a:latin typeface="Georgia"/>
                <a:ea typeface="Georgia"/>
              </a:rPr>
              <a:t>02</a:t>
            </a:r>
            <a:endParaRPr b="0" lang="en-AU" sz="7200" spc="-1" strike="noStrike">
              <a:solidFill>
                <a:srgbClr val="ffffff"/>
              </a:solidFill>
              <a:latin typeface="Arial"/>
            </a:endParaRPr>
          </a:p>
        </p:txBody>
      </p:sp>
      <p:sp>
        <p:nvSpPr>
          <p:cNvPr id="71" name="Text 2"/>
          <p:cNvSpPr/>
          <p:nvPr/>
        </p:nvSpPr>
        <p:spPr>
          <a:xfrm>
            <a:off x="731520" y="2377440"/>
            <a:ext cx="768060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ffffff"/>
                </a:solidFill>
                <a:latin typeface="Georgia"/>
                <a:ea typeface="Georgia"/>
              </a:rPr>
              <a:t>The Language Stack</a:t>
            </a:r>
            <a:endParaRPr b="0" lang="en-AU" sz="3200" spc="-1" strike="noStrike">
              <a:solidFill>
                <a:srgbClr val="ffffff"/>
              </a:solidFill>
              <a:latin typeface="Arial"/>
            </a:endParaRPr>
          </a:p>
        </p:txBody>
      </p:sp>
      <p:sp>
        <p:nvSpPr>
          <p:cNvPr id="72" name="Text 3"/>
          <p:cNvSpPr/>
          <p:nvPr/>
        </p:nvSpPr>
        <p:spPr>
          <a:xfrm>
            <a:off x="731520" y="3154680"/>
            <a:ext cx="7314840" cy="1096920"/>
          </a:xfrm>
          <a:prstGeom prst="rect">
            <a:avLst/>
          </a:prstGeom>
          <a:noFill/>
          <a:ln w="0">
            <a:noFill/>
          </a:ln>
        </p:spPr>
        <p:style>
          <a:lnRef idx="0"/>
          <a:fillRef idx="0"/>
          <a:effectRef idx="0"/>
          <a:fontRef idx="minor"/>
        </p:style>
        <p:txBody>
          <a:bodyPr lIns="0" rIns="0" tIns="0" bIns="0" anchor="t">
            <a:noAutofit/>
          </a:bodyPr>
          <a:p>
            <a:pPr defTabSz="914400">
              <a:lnSpc>
                <a:spcPct val="135000"/>
              </a:lnSpc>
              <a:tabLst>
                <a:tab algn="l" pos="0"/>
              </a:tabLst>
            </a:pPr>
            <a:r>
              <a:rPr b="0" lang="en-US" sz="1400" spc="-1" strike="noStrike">
                <a:solidFill>
                  <a:srgbClr val="e0f2fe"/>
                </a:solidFill>
                <a:latin typeface="Calibri"/>
                <a:ea typeface="Calibri"/>
              </a:rPr>
              <a:t>MeTTa, MeTTa-IL, PeTTa, JeTTa, MM2/MORKL, and PyMeTTa — a multi-layer approach to cognitive programming that balances expressiveness, performance, and formal verification.</a:t>
            </a:r>
            <a:endParaRPr b="0" lang="en-AU" sz="1400" spc="-1" strike="noStrike">
              <a:solidFill>
                <a:srgbClr val="ffffff"/>
              </a:solidFill>
              <a:latin typeface="Arial"/>
            </a:endParaRPr>
          </a:p>
        </p:txBody>
      </p:sp>
      <p:sp>
        <p:nvSpPr>
          <p:cNvPr id="73" name="Shape 4"/>
          <p:cNvSpPr/>
          <p:nvPr/>
        </p:nvSpPr>
        <p:spPr>
          <a:xfrm>
            <a:off x="0" y="4892040"/>
            <a:ext cx="9143640" cy="251280"/>
          </a:xfrm>
          <a:prstGeom prst="rect">
            <a:avLst/>
          </a:prstGeom>
          <a:solidFill>
            <a:srgbClr val="0a1128"/>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74"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4748b"/>
                </a:solidFill>
                <a:latin typeface="Calibri"/>
                <a:ea typeface="Calibri"/>
              </a:rPr>
              <a:t>9 / 40</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75"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76" name="Image 0" descr="preencoded.png"/>
          <p:cNvPicPr/>
          <p:nvPr/>
        </p:nvPicPr>
        <p:blipFill>
          <a:blip r:embed="rId1"/>
          <a:stretch/>
        </p:blipFill>
        <p:spPr>
          <a:xfrm>
            <a:off x="411480" y="274320"/>
            <a:ext cx="383760" cy="383760"/>
          </a:xfrm>
          <a:prstGeom prst="rect">
            <a:avLst/>
          </a:prstGeom>
          <a:ln w="0">
            <a:noFill/>
          </a:ln>
        </p:spPr>
      </p:pic>
      <p:sp>
        <p:nvSpPr>
          <p:cNvPr id="77"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MeTTa: Cognitive Code as Graph Transformations</a:t>
            </a:r>
            <a:endParaRPr b="0" lang="en-AU" sz="2400" spc="-1" strike="noStrike">
              <a:solidFill>
                <a:srgbClr val="000000"/>
              </a:solidFill>
              <a:latin typeface="Arial"/>
            </a:endParaRPr>
          </a:p>
        </p:txBody>
      </p:sp>
      <p:sp>
        <p:nvSpPr>
          <p:cNvPr id="78"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79"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MeTTa is Hyperon's high-level language where developers write abstract cognitive code. It takes a distinctive approach to programming: you write small equations, queries, and control patterns that match against subgraphs and rewrite them. The language keeps results as lazy nondeterministic streams until you explicitly collapse them — a design that naturally fits cognitive processes where multiple possibilities need to be explored in parallel.</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MeTTa is declarative and homoiconic — a pattern-rewrite language built specifically for Atomspace manipulation. It operates at a higher level of abstraction than other functional or logic programming languages, allowing flexible experimentation with a wide variety of type systems, language constructs, logics, and computational paradigms while retaining speed and scalability.</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MeTTa-4 semantic model provides clean, small-step operational semantics including committed choice by default (once a branch is selected, it proceeds deterministically), delimited nondeterminism (explicit operators for forking and rejoining computation streams), and atomic Space operations with transactional semantics.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MeTTa-IL (Intermediate Language) serves as the compiler-friendly representation derived from Graph-Structured Lambda Theory (GSLT). It enables generating both interpreters and type systems from the same specification, targeting multiple execution backends without semantic drift, applying optimizations with behavioral confidence, and verifying safety properties before deployment.</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PeTTa compiles MeTTa via SWI-Prolog using recursion schemas with execution speed on par with modern Prolog. PeTTa can handle 50-100M Atoms in RAM on its own, and via PeTTa/MORK integration can reach half a billion Atoms. JeTTa compiles to the JVM via Kotlin, enabling Android deployment.</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MM2 and MORKL implement kernel-level operations directly on MORK — factor-graph message passing, weighted sweeps, and ByteFlow operations for GPU/TPU acceleration. PyMeTTa provides a Python-compatible surface that transpiles to MeTTa for notebook-driven development.</a:t>
            </a:r>
            <a:endParaRPr b="0" lang="en-AU" sz="1050" spc="-1" strike="noStrike">
              <a:solidFill>
                <a:srgbClr val="000000"/>
              </a:solidFill>
              <a:latin typeface="Arial"/>
            </a:endParaRPr>
          </a:p>
        </p:txBody>
      </p:sp>
      <p:sp>
        <p:nvSpPr>
          <p:cNvPr id="80"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81"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10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3d"/>
        </a:solidFill>
      </p:bgPr>
    </p:bg>
    <p:spTree>
      <p:nvGrpSpPr>
        <p:cNvPr id="1" name=""/>
        <p:cNvGrpSpPr/>
        <p:nvPr/>
      </p:nvGrpSpPr>
      <p:grpSpPr>
        <a:xfrm>
          <a:off x="0" y="0"/>
          <a:ext cx="0" cy="0"/>
          <a:chOff x="0" y="0"/>
          <a:chExt cx="0" cy="0"/>
        </a:xfrm>
      </p:grpSpPr>
      <p:sp>
        <p:nvSpPr>
          <p:cNvPr id="82" name="Shape 0"/>
          <p:cNvSpPr/>
          <p:nvPr/>
        </p:nvSpPr>
        <p:spPr>
          <a:xfrm>
            <a:off x="0" y="0"/>
            <a:ext cx="9143640" cy="54360"/>
          </a:xfrm>
          <a:prstGeom prst="rect">
            <a:avLst/>
          </a:prstGeom>
          <a:solidFill>
            <a:srgbClr val="22d3ee"/>
          </a:solidFill>
          <a:ln w="0">
            <a:noFill/>
          </a:ln>
        </p:spPr>
        <p:style>
          <a:lnRef idx="0"/>
          <a:fillRef idx="0"/>
          <a:effectRef idx="0"/>
          <a:fontRef idx="minor"/>
        </p:style>
        <p:txBody>
          <a:bodyPr lIns="90000" rIns="90000" tIns="9720" bIns="9720" anchor="t">
            <a:noAutofit/>
          </a:bodyPr>
          <a:p>
            <a:endParaRPr b="0" lang="en-AU" sz="1800" spc="-1" strike="noStrike">
              <a:solidFill>
                <a:srgbClr val="000000"/>
              </a:solidFill>
              <a:latin typeface="Arial"/>
            </a:endParaRPr>
          </a:p>
        </p:txBody>
      </p:sp>
      <p:sp>
        <p:nvSpPr>
          <p:cNvPr id="83" name="Text 1"/>
          <p:cNvSpPr/>
          <p:nvPr/>
        </p:nvSpPr>
        <p:spPr>
          <a:xfrm>
            <a:off x="731520" y="914400"/>
            <a:ext cx="1828440" cy="1462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0" spc="-1" strike="noStrike">
                <a:solidFill>
                  <a:srgbClr val="0891b2"/>
                </a:solidFill>
                <a:latin typeface="Georgia"/>
                <a:ea typeface="Georgia"/>
              </a:rPr>
              <a:t>03</a:t>
            </a:r>
            <a:endParaRPr b="0" lang="en-AU" sz="7200" spc="-1" strike="noStrike">
              <a:solidFill>
                <a:srgbClr val="ffffff"/>
              </a:solidFill>
              <a:latin typeface="Arial"/>
            </a:endParaRPr>
          </a:p>
        </p:txBody>
      </p:sp>
      <p:sp>
        <p:nvSpPr>
          <p:cNvPr id="84" name="Text 2"/>
          <p:cNvSpPr/>
          <p:nvPr/>
        </p:nvSpPr>
        <p:spPr>
          <a:xfrm>
            <a:off x="731520" y="2377440"/>
            <a:ext cx="768060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ffffff"/>
                </a:solidFill>
                <a:latin typeface="Georgia"/>
                <a:ea typeface="Georgia"/>
              </a:rPr>
              <a:t>The PRIMUS Cognitive Architecture</a:t>
            </a:r>
            <a:endParaRPr b="0" lang="en-AU" sz="3200" spc="-1" strike="noStrike">
              <a:solidFill>
                <a:srgbClr val="ffffff"/>
              </a:solidFill>
              <a:latin typeface="Arial"/>
            </a:endParaRPr>
          </a:p>
        </p:txBody>
      </p:sp>
      <p:sp>
        <p:nvSpPr>
          <p:cNvPr id="85" name="Text 3"/>
          <p:cNvSpPr/>
          <p:nvPr/>
        </p:nvSpPr>
        <p:spPr>
          <a:xfrm>
            <a:off x="731520" y="3154680"/>
            <a:ext cx="7314840" cy="1096920"/>
          </a:xfrm>
          <a:prstGeom prst="rect">
            <a:avLst/>
          </a:prstGeom>
          <a:noFill/>
          <a:ln w="0">
            <a:noFill/>
          </a:ln>
        </p:spPr>
        <p:style>
          <a:lnRef idx="0"/>
          <a:fillRef idx="0"/>
          <a:effectRef idx="0"/>
          <a:fontRef idx="minor"/>
        </p:style>
        <p:txBody>
          <a:bodyPr lIns="0" rIns="0" tIns="0" bIns="0" anchor="t">
            <a:noAutofit/>
          </a:bodyPr>
          <a:p>
            <a:pPr defTabSz="914400">
              <a:lnSpc>
                <a:spcPct val="135000"/>
              </a:lnSpc>
              <a:tabLst>
                <a:tab algn="l" pos="0"/>
              </a:tabLst>
            </a:pPr>
            <a:r>
              <a:rPr b="0" lang="en-US" sz="1400" spc="-1" strike="noStrike">
                <a:solidFill>
                  <a:srgbClr val="e0f2fe"/>
                </a:solidFill>
                <a:latin typeface="Calibri"/>
                <a:ea typeface="Calibri"/>
              </a:rPr>
              <a:t>A neurosymbolic cognitive architecture running two interleaved loops — goal-directed and ambient cognition — over a shared metagraph memory, orchestrating multiple complementary AI methods.</a:t>
            </a:r>
            <a:endParaRPr b="0" lang="en-AU" sz="1400" spc="-1" strike="noStrike">
              <a:solidFill>
                <a:srgbClr val="ffffff"/>
              </a:solidFill>
              <a:latin typeface="Arial"/>
            </a:endParaRPr>
          </a:p>
        </p:txBody>
      </p:sp>
      <p:sp>
        <p:nvSpPr>
          <p:cNvPr id="86" name="Shape 4"/>
          <p:cNvSpPr/>
          <p:nvPr/>
        </p:nvSpPr>
        <p:spPr>
          <a:xfrm>
            <a:off x="0" y="4892040"/>
            <a:ext cx="9143640" cy="251280"/>
          </a:xfrm>
          <a:prstGeom prst="rect">
            <a:avLst/>
          </a:prstGeom>
          <a:solidFill>
            <a:srgbClr val="0a1128"/>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87"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4748b"/>
                </a:solidFill>
                <a:latin typeface="Calibri"/>
                <a:ea typeface="Calibri"/>
              </a:rPr>
              <a:t>11 / 40</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88"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89" name="Image 0" descr="preencoded.png"/>
          <p:cNvPicPr/>
          <p:nvPr/>
        </p:nvPicPr>
        <p:blipFill>
          <a:blip r:embed="rId1"/>
          <a:stretch/>
        </p:blipFill>
        <p:spPr>
          <a:xfrm>
            <a:off x="411480" y="274320"/>
            <a:ext cx="383760" cy="383760"/>
          </a:xfrm>
          <a:prstGeom prst="rect">
            <a:avLst/>
          </a:prstGeom>
          <a:ln w="0">
            <a:noFill/>
          </a:ln>
        </p:spPr>
      </p:pic>
      <p:sp>
        <p:nvSpPr>
          <p:cNvPr id="90"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PRIMUS: Two Interleaved Cognitive Loops</a:t>
            </a:r>
            <a:endParaRPr b="0" lang="en-AU" sz="2400" spc="-1" strike="noStrike">
              <a:solidFill>
                <a:srgbClr val="000000"/>
              </a:solidFill>
              <a:latin typeface="Arial"/>
            </a:endParaRPr>
          </a:p>
        </p:txBody>
      </p:sp>
      <p:sp>
        <p:nvSpPr>
          <p:cNvPr id="91"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92"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PRIMUS is Hyperon's 'mind layer': a neurosymbolic cognitive architecture that runs two interleaved loops over one shared metagraph memory. Rather than choosing a single approach to intelligence, PRIMUS orchestrates multiple complementary methods in a unified cognitive cycle.</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goal-directed loop uses MetaMo to maintain and negotiate top-level motives, then composes procedures — drawing on PLN uncertain reasoning, MOSES/GEO-EVO evolutionarily-learned skills, predictive-coding-based neural models, and options certified by SubRep goal-refinement — to pursue goals in context. MetaMo's multi-objective motives frame what counts as progress; PLN supplies explainable chains connecting possible actions to expected outcomes; MOSES/GEO-EVO proposes compact programs when the plan needs new skills; predictive-coding layers provide fast forecasts and residuals.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ambient background loop, scheduled by ECAN nonlinear-dynamical attention allocation, continuously mines patterns, blends concepts, and tightens beliefs with factor-graph-based PLN reasoning so the system keeps discovering reusable structure even off-task. ECAN's importance and urgency shape what gets computed; streaming pattern mining spots recurring structures; concept blending invents composite ideas; and factor-graph PLN consolidates implications.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TransWeave provides the algebra so that updates and transfers across these processes 'almost commute': learn-then-transfer approximates transfer-then-learn, with bounded order effects, making goal and ambient processes reinforce each other instead of fighting.</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All of this is expressed as MeTTa graph rewrites and executed efficiently on MORK and across the Distributed Atomspace, so PRIMUS scales from a single machine to decentralized clusters while staying auditable, modular, and composable end-to-end.</a:t>
            </a:r>
            <a:endParaRPr b="0" lang="en-AU" sz="1050" spc="-1" strike="noStrike">
              <a:solidFill>
                <a:srgbClr val="000000"/>
              </a:solidFill>
              <a:latin typeface="Arial"/>
            </a:endParaRPr>
          </a:p>
        </p:txBody>
      </p:sp>
      <p:sp>
        <p:nvSpPr>
          <p:cNvPr id="93"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94"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12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95"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96" name="Image 0" descr="preencoded.png"/>
          <p:cNvPicPr/>
          <p:nvPr/>
        </p:nvPicPr>
        <p:blipFill>
          <a:blip r:embed="rId1"/>
          <a:stretch/>
        </p:blipFill>
        <p:spPr>
          <a:xfrm>
            <a:off x="411480" y="274320"/>
            <a:ext cx="383760" cy="383760"/>
          </a:xfrm>
          <a:prstGeom prst="rect">
            <a:avLst/>
          </a:prstGeom>
          <a:ln w="0">
            <a:noFill/>
          </a:ln>
        </p:spPr>
      </p:pic>
      <p:sp>
        <p:nvSpPr>
          <p:cNvPr id="97"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PRIMUS: Core Cognitive Components</a:t>
            </a:r>
            <a:endParaRPr b="0" lang="en-AU" sz="2400" spc="-1" strike="noStrike">
              <a:solidFill>
                <a:srgbClr val="000000"/>
              </a:solidFill>
              <a:latin typeface="Arial"/>
            </a:endParaRPr>
          </a:p>
        </p:txBody>
      </p:sp>
      <p:sp>
        <p:nvSpPr>
          <p:cNvPr id="98"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99"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PRIMUS orchestrates a rich set of cognitive components, each responsible for a distinct aspect of intelligence but all sharing common data structures, evaluation metrics, and control signals: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Perception and Action: Predictive coding networks process sensory input and generate motor commands, using local learning rules rather than global backpropagation for efficiency and biological plausibility.</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Attention and Memory: ECAN (Economic Attention Network) manages cognitive resource allocation using economic principles — short-term importance (STI) and long-term importance (LTI) currencies flow through the metagraph, forming an attentional focus that prioritizes computation.</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Reasoning: PLN (Probabilistic Logic Networks) handles uncertain inference through geodesic-guided forward and backward chaining, and factor graph message passing. It carries both what the system believes and how strongly it believes it via interpretable truth values.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Learning: Multiple parallel systems extract patterns. WILLIAM mines reusable motifs using compression principles, identifying patterns worth remembering by asking what simplest explanation captures observations. MOSES performs evolutionary program search guided by goals and utility estimates.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Control: Geodesic inference finds shortest-effort paths between current states and goals, maintaining both forward reachability factors and backward usefulness factors.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Motivation: MetaMo manages goal hierarchies and resource allocation through coupled appraisal and decision functions.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key insight: these aren't isolated modules. When WILLIAM discovers a useful pattern, it immediately becomes available to PLN for reasoning and to neural networks as an attention target. When PLN identifies an inference gap, it can direct MOSES to evolve programs to fill it. This deep interoperation, enabled by shared quantale weakness, geodesic control, and TransWeave-based mappings, is what distinguishes PRIMUS from loose component integration.</a:t>
            </a:r>
            <a:endParaRPr b="0" lang="en-AU" sz="1050" spc="-1" strike="noStrike">
              <a:solidFill>
                <a:srgbClr val="000000"/>
              </a:solidFill>
              <a:latin typeface="Arial"/>
            </a:endParaRPr>
          </a:p>
        </p:txBody>
      </p:sp>
      <p:sp>
        <p:nvSpPr>
          <p:cNvPr id="100"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01"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13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3d"/>
        </a:solidFill>
      </p:bgPr>
    </p:bg>
    <p:spTree>
      <p:nvGrpSpPr>
        <p:cNvPr id="1" name=""/>
        <p:cNvGrpSpPr/>
        <p:nvPr/>
      </p:nvGrpSpPr>
      <p:grpSpPr>
        <a:xfrm>
          <a:off x="0" y="0"/>
          <a:ext cx="0" cy="0"/>
          <a:chOff x="0" y="0"/>
          <a:chExt cx="0" cy="0"/>
        </a:xfrm>
      </p:grpSpPr>
      <p:sp>
        <p:nvSpPr>
          <p:cNvPr id="102" name="Shape 0"/>
          <p:cNvSpPr/>
          <p:nvPr/>
        </p:nvSpPr>
        <p:spPr>
          <a:xfrm>
            <a:off x="0" y="0"/>
            <a:ext cx="9143640" cy="54360"/>
          </a:xfrm>
          <a:prstGeom prst="rect">
            <a:avLst/>
          </a:prstGeom>
          <a:solidFill>
            <a:srgbClr val="22d3ee"/>
          </a:solidFill>
          <a:ln w="0">
            <a:noFill/>
          </a:ln>
        </p:spPr>
        <p:style>
          <a:lnRef idx="0"/>
          <a:fillRef idx="0"/>
          <a:effectRef idx="0"/>
          <a:fontRef idx="minor"/>
        </p:style>
        <p:txBody>
          <a:bodyPr lIns="90000" rIns="90000" tIns="9720" bIns="9720" anchor="t">
            <a:noAutofit/>
          </a:bodyPr>
          <a:p>
            <a:endParaRPr b="0" lang="en-AU" sz="1800" spc="-1" strike="noStrike">
              <a:solidFill>
                <a:srgbClr val="000000"/>
              </a:solidFill>
              <a:latin typeface="Arial"/>
            </a:endParaRPr>
          </a:p>
        </p:txBody>
      </p:sp>
      <p:sp>
        <p:nvSpPr>
          <p:cNvPr id="103" name="Text 1"/>
          <p:cNvSpPr/>
          <p:nvPr/>
        </p:nvSpPr>
        <p:spPr>
          <a:xfrm>
            <a:off x="731520" y="914400"/>
            <a:ext cx="1828440" cy="1462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0" spc="-1" strike="noStrike">
                <a:solidFill>
                  <a:srgbClr val="0891b2"/>
                </a:solidFill>
                <a:latin typeface="Georgia"/>
                <a:ea typeface="Georgia"/>
              </a:rPr>
              <a:t>04</a:t>
            </a:r>
            <a:endParaRPr b="0" lang="en-AU" sz="7200" spc="-1" strike="noStrike">
              <a:solidFill>
                <a:srgbClr val="ffffff"/>
              </a:solidFill>
              <a:latin typeface="Arial"/>
            </a:endParaRPr>
          </a:p>
        </p:txBody>
      </p:sp>
      <p:sp>
        <p:nvSpPr>
          <p:cNvPr id="104" name="Text 2"/>
          <p:cNvSpPr/>
          <p:nvPr/>
        </p:nvSpPr>
        <p:spPr>
          <a:xfrm>
            <a:off x="731520" y="2377440"/>
            <a:ext cx="768060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ffffff"/>
                </a:solidFill>
                <a:latin typeface="Georgia"/>
                <a:ea typeface="Georgia"/>
              </a:rPr>
              <a:t>Major Additions Since 2023</a:t>
            </a:r>
            <a:endParaRPr b="0" lang="en-AU" sz="3200" spc="-1" strike="noStrike">
              <a:solidFill>
                <a:srgbClr val="ffffff"/>
              </a:solidFill>
              <a:latin typeface="Arial"/>
            </a:endParaRPr>
          </a:p>
        </p:txBody>
      </p:sp>
      <p:sp>
        <p:nvSpPr>
          <p:cNvPr id="105" name="Text 3"/>
          <p:cNvSpPr/>
          <p:nvPr/>
        </p:nvSpPr>
        <p:spPr>
          <a:xfrm>
            <a:off x="731520" y="3154680"/>
            <a:ext cx="7314840" cy="1096920"/>
          </a:xfrm>
          <a:prstGeom prst="rect">
            <a:avLst/>
          </a:prstGeom>
          <a:noFill/>
          <a:ln w="0">
            <a:noFill/>
          </a:ln>
        </p:spPr>
        <p:style>
          <a:lnRef idx="0"/>
          <a:fillRef idx="0"/>
          <a:effectRef idx="0"/>
          <a:fontRef idx="minor"/>
        </p:style>
        <p:txBody>
          <a:bodyPr lIns="0" rIns="0" tIns="0" bIns="0" anchor="t">
            <a:noAutofit/>
          </a:bodyPr>
          <a:p>
            <a:pPr defTabSz="914400">
              <a:lnSpc>
                <a:spcPct val="135000"/>
              </a:lnSpc>
              <a:tabLst>
                <a:tab algn="l" pos="0"/>
              </a:tabLst>
            </a:pPr>
            <a:r>
              <a:rPr b="0" lang="en-US" sz="1400" spc="-1" strike="noStrike">
                <a:solidFill>
                  <a:srgbClr val="e0f2fe"/>
                </a:solidFill>
                <a:latin typeface="Calibri"/>
                <a:ea typeface="Calibri"/>
              </a:rPr>
              <a:t>Weakness theory, geodesic inference, fluid-dynamic attention, Schrödinger bridge learning, TransWeave, SubRep, MetaMo, algorithmic chemistry, and WILLIAM-on-MORK — transforming PRIMUS from a loose integration into a mathematically unified cognitive machine.</a:t>
            </a:r>
            <a:endParaRPr b="0" lang="en-AU" sz="1400" spc="-1" strike="noStrike">
              <a:solidFill>
                <a:srgbClr val="ffffff"/>
              </a:solidFill>
              <a:latin typeface="Arial"/>
            </a:endParaRPr>
          </a:p>
        </p:txBody>
      </p:sp>
      <p:sp>
        <p:nvSpPr>
          <p:cNvPr id="106" name="Shape 4"/>
          <p:cNvSpPr/>
          <p:nvPr/>
        </p:nvSpPr>
        <p:spPr>
          <a:xfrm>
            <a:off x="0" y="4892040"/>
            <a:ext cx="9143640" cy="251280"/>
          </a:xfrm>
          <a:prstGeom prst="rect">
            <a:avLst/>
          </a:prstGeom>
          <a:solidFill>
            <a:srgbClr val="0a1128"/>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07"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4748b"/>
                </a:solidFill>
                <a:latin typeface="Calibri"/>
                <a:ea typeface="Calibri"/>
              </a:rPr>
              <a:t>14 / 40</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08"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109" name="Image 0" descr="preencoded.png"/>
          <p:cNvPicPr/>
          <p:nvPr/>
        </p:nvPicPr>
        <p:blipFill>
          <a:blip r:embed="rId1"/>
          <a:stretch/>
        </p:blipFill>
        <p:spPr>
          <a:xfrm>
            <a:off x="411480" y="274320"/>
            <a:ext cx="383760" cy="383760"/>
          </a:xfrm>
          <a:prstGeom prst="rect">
            <a:avLst/>
          </a:prstGeom>
          <a:ln w="0">
            <a:noFill/>
          </a:ln>
        </p:spPr>
      </p:pic>
      <p:sp>
        <p:nvSpPr>
          <p:cNvPr id="110"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Weakness Theory: The Mathematics of Simplicity</a:t>
            </a:r>
            <a:endParaRPr b="0" lang="en-AU" sz="2400" spc="-1" strike="noStrike">
              <a:solidFill>
                <a:srgbClr val="000000"/>
              </a:solidFill>
              <a:latin typeface="Arial"/>
            </a:endParaRPr>
          </a:p>
        </p:txBody>
      </p:sp>
      <p:sp>
        <p:nvSpPr>
          <p:cNvPr id="111"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112"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The idea that simpler explanations are better dates back centuries with Occam's Razor. What Hyperon/PRIMUS introduces in 2025 is a single mathematical framework that makes 'simplicity' precise and computable across all of cognition. Weakness theory measures how much two items 'fail to be distinguished' in a precise quantale-theoretic sense.</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Quantale weakness abstracts Michael Timothy Bennett's set-theoretic weakness beyond sets to enriched quantales — a kind of formal category. This lets us define 'simplicity' in the native algebra of whatever algorithm or representation is being used: logical proofs, probabilistic models, SVM margins, hypervectors, quantum operators, and more. Each domain has its own way of combining and comparing things; a quantale captures that structure, and weakness identifies hypotheses as 'simpler' when they rule out less or add less extra structure.</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This yields an Occam-style heuristic that is not one-size-fits-all minimum description length, but a family of Occam's Razors — one per algorithmic context — each computable with the primitives the algorithm already uses. So instead of forcing every module to measure simplicity in bits, Hyperon can prefer weaker rules in logic via set/Heyting operations, prefer larger safe margins in SVMs, prefer lower-disturbance paths in Schrödinger-bridge dynamics, and more — all as instantiations of the same 'prefer weakness' bias.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Because these weaknesses live in different but compatible quantales, they can also compose: map a logical weakness into a probabilistic one, relate margin-based weakness to information-theoretic weakness, or connect operator-level weakness to dynamical weakness. These functorial links let a planner, learner, or reasoner carry a single simplicity preference across neural, symbolic, evolutionary, and quantum submodules. The result is an architecture-wide Occam's razor that is native to each algorithm yet aligned system-wide.</a:t>
            </a:r>
            <a:endParaRPr b="0" lang="en-AU" sz="1050" spc="-1" strike="noStrike">
              <a:solidFill>
                <a:srgbClr val="000000"/>
              </a:solidFill>
              <a:latin typeface="Arial"/>
            </a:endParaRPr>
          </a:p>
        </p:txBody>
      </p:sp>
      <p:sp>
        <p:nvSpPr>
          <p:cNvPr id="113"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14"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15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15"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116" name="Image 0" descr="preencoded.png"/>
          <p:cNvPicPr/>
          <p:nvPr/>
        </p:nvPicPr>
        <p:blipFill>
          <a:blip r:embed="rId1"/>
          <a:stretch/>
        </p:blipFill>
        <p:spPr>
          <a:xfrm>
            <a:off x="411480" y="274320"/>
            <a:ext cx="383760" cy="383760"/>
          </a:xfrm>
          <a:prstGeom prst="rect">
            <a:avLst/>
          </a:prstGeom>
          <a:ln w="0">
            <a:noFill/>
          </a:ln>
        </p:spPr>
      </p:pic>
      <p:sp>
        <p:nvSpPr>
          <p:cNvPr id="117"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Geodesic Inference and Control</a:t>
            </a:r>
            <a:endParaRPr b="0" lang="en-AU" sz="2400" spc="-1" strike="noStrike">
              <a:solidFill>
                <a:srgbClr val="000000"/>
              </a:solidFill>
              <a:latin typeface="Arial"/>
            </a:endParaRPr>
          </a:p>
        </p:txBody>
      </p:sp>
      <p:sp>
        <p:nvSpPr>
          <p:cNvPr id="118"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119"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Traditional inference systems often waste effort oscillating between forward chaining from facts and backward chaining from goals. Geodesic control eliminates this inefficiency by maintaining both directions simultaneously and choosing steps that advance both.</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approach implements Schrödinger bridge geometry, defining an action functional that combines transport effort with prior regularization. The optimal solution has an elegant property: at each point, the probability density is proportional to the product of forward and backward factors (f × g). The control rule is straightforward: choose actions that maximize the change in log(f × g) per unit cost, while maintaining approximately constant effort per step.</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This approach enforces a critical safety property: conservation of evidence. Just as physical systems conserve energy, the inference system ensures that evidence neither spontaneously appears nor disappears — preventing both hallucination and information loss. Evidence conservation emerges from a quantale-valued 'generalized energy' acting as a Noether invariant, implemented using local evidence capsules similar to CRDTs.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In practice for PLN, the forward and backward factors are approximated through factor-graph messages for logical inference, Monte Carlo estimates for meet probabilities, and amortized neural predictors for complex domains.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Geodesic control has general applicability throughout PRIMUS. It guides PLN inference (both forward and backward chaining), MOSES/GEO-EVO evolutionary program search (forward from capabilities, backward from goals), planning and decision-making, transfer learning via TransWeave, and even self-modification. The universality of this approach — the same mathematical framework governing all these diverse cognitive operations — is one of the key architectural insights that unifies PRIMUS into a coherent system.</a:t>
            </a:r>
            <a:endParaRPr b="0" lang="en-AU" sz="1050" spc="-1" strike="noStrike">
              <a:solidFill>
                <a:srgbClr val="000000"/>
              </a:solidFill>
              <a:latin typeface="Arial"/>
            </a:endParaRPr>
          </a:p>
        </p:txBody>
      </p:sp>
      <p:sp>
        <p:nvSpPr>
          <p:cNvPr id="120"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21"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16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22"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123" name="Image 0" descr="preencoded.png"/>
          <p:cNvPicPr/>
          <p:nvPr/>
        </p:nvPicPr>
        <p:blipFill>
          <a:blip r:embed="rId1"/>
          <a:stretch/>
        </p:blipFill>
        <p:spPr>
          <a:xfrm>
            <a:off x="411480" y="274320"/>
            <a:ext cx="383760" cy="383760"/>
          </a:xfrm>
          <a:prstGeom prst="rect">
            <a:avLst/>
          </a:prstGeom>
          <a:ln w="0">
            <a:noFill/>
          </a:ln>
        </p:spPr>
      </p:pic>
      <p:sp>
        <p:nvSpPr>
          <p:cNvPr id="124"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Fluid Dynamics for Attention: ECAN + Optimal Transport</a:t>
            </a:r>
            <a:endParaRPr b="0" lang="en-AU" sz="2400" spc="-1" strike="noStrike">
              <a:solidFill>
                <a:srgbClr val="000000"/>
              </a:solidFill>
              <a:latin typeface="Arial"/>
            </a:endParaRPr>
          </a:p>
        </p:txBody>
      </p:sp>
      <p:sp>
        <p:nvSpPr>
          <p:cNvPr id="125"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126"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A novel enhancement to ECAN reframes attention allocation as incompressible fluid dynamics with optimal control semantics. Rather than treating attention as diffusing randomly through the knowledge graph, this approach models it as a conserved fluid whose flow is optimally steered toward goal-relevant regions.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mathematical foundation connects the Hamilton-Jacobi-Bellman equation for optimal control to the Navier-Stokes equations governing fluid flow. Attention mass (STI values) becomes an incompressible fluid density advected by a divergence-free velocity field, derived from the optimal policy solving a boundary-value control problem.</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incompressibility constraint enforces strict budget conservation, while pressure acts as a shadow price for attention congestion, automatically redirecting flow to prevent bottlenecks. This provides principled, goal-aware routing of attention that is particularly powerful for credit assignment in multi-hop causal chains, where traditional diffusion may lag or blur the signal.</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This fluid dynamics layer does not replace ECAN's economic mechanisms but provides a sophisticated transport substrate. Between ECAN's discrete economic updates, attention evolves via the continuity equation with the velocity field computed from an HJB-derived optimal policy. All of ECAN's invariants — conservation of attention budget, wage/rent/tax/welfare dynamics, and attentional focus selection — are maintained.</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Implementation leverages MORK's ShardZipper framework, extracting locally-sweepable subtries, materializing them as contiguous buffers for GPU/CPU processing, running the fluid dynamics kernels, and splicing results back into the metagraph. TransWeave can transfer learned attention flow patterns between contexts, adapting flow fields to new problems while preserving essential transport structure.</a:t>
            </a:r>
            <a:endParaRPr b="0" lang="en-AU" sz="1050" spc="-1" strike="noStrike">
              <a:solidFill>
                <a:srgbClr val="000000"/>
              </a:solidFill>
              <a:latin typeface="Arial"/>
            </a:endParaRPr>
          </a:p>
        </p:txBody>
      </p:sp>
      <p:sp>
        <p:nvSpPr>
          <p:cNvPr id="127"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28"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17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29"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130" name="Image 0" descr="preencoded.png"/>
          <p:cNvPicPr/>
          <p:nvPr/>
        </p:nvPicPr>
        <p:blipFill>
          <a:blip r:embed="rId1"/>
          <a:stretch/>
        </p:blipFill>
        <p:spPr>
          <a:xfrm>
            <a:off x="411480" y="274320"/>
            <a:ext cx="383760" cy="383760"/>
          </a:xfrm>
          <a:prstGeom prst="rect">
            <a:avLst/>
          </a:prstGeom>
          <a:ln w="0">
            <a:noFill/>
          </a:ln>
        </p:spPr>
      </p:pic>
      <p:sp>
        <p:nvSpPr>
          <p:cNvPr id="131"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Schrödinger Bridge Learning</a:t>
            </a:r>
            <a:endParaRPr b="0" lang="en-AU" sz="2400" spc="-1" strike="noStrike">
              <a:solidFill>
                <a:srgbClr val="000000"/>
              </a:solidFill>
              <a:latin typeface="Arial"/>
            </a:endParaRPr>
          </a:p>
        </p:txBody>
      </p:sp>
      <p:sp>
        <p:nvSpPr>
          <p:cNvPr id="132"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133"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A fundamentally new learning paradigm leverages Schrödinger bridges — entropic optimal transport formulations that interpolate between probability distributions. Instead of fighting overfitting through regularization, this method explicitly constructs distributions over both simple abstract models and complex high-fidelity models, then follows the entropic interpolation path between them.</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Schrödinger bridge automatically discovers a curriculum that progresses from coarse patterns to fine details, with entropic regularization providing robustness while optimal transport structure ensures efficiency. This approach is particularly powerful for problems with natural hierarchical or multi-scale structure.</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In predictive coding implementations, each layer maintains parameter ensembles representing samples from the current distribution along the bridge. The system balances prediction error minimization with transport along the entropic interpolation, implementing a time-varying complexity budget that naturally increases as learning progresses. The forward/backward factor decomposition governing the bridge aligns with predictive coding's bidirectional message passing, creating a unified framework.</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For evolutionary programming in MOSES-style systems, the bridge framework replaces random mutations with 'smart' mutations biased by a tilted kernel. Early in evolution, mutations are conservative, preserving program structure while refining parameters. Later mutations make bolder structural changes as the bridge approaches the complex endpoint — a principled curriculum from simple to complex programs, discovered automatically.</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bridge learning approach is most beneficial for problems exhibiting multi-scale separability (where coarse and fine structures can be meaningfully decomposed), compositional structure (where complex solutions build on simpler components), and smooth interpolation meaningfulness (where intermediate models along the path are themselves useful).</a:t>
            </a:r>
            <a:endParaRPr b="0" lang="en-AU" sz="1050" spc="-1" strike="noStrike">
              <a:solidFill>
                <a:srgbClr val="000000"/>
              </a:solidFill>
              <a:latin typeface="Arial"/>
            </a:endParaRPr>
          </a:p>
        </p:txBody>
      </p:sp>
      <p:sp>
        <p:nvSpPr>
          <p:cNvPr id="134"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35"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18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36"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137" name="Image 0" descr="preencoded.png"/>
          <p:cNvPicPr/>
          <p:nvPr/>
        </p:nvPicPr>
        <p:blipFill>
          <a:blip r:embed="rId1"/>
          <a:stretch/>
        </p:blipFill>
        <p:spPr>
          <a:xfrm>
            <a:off x="411480" y="274320"/>
            <a:ext cx="383760" cy="383760"/>
          </a:xfrm>
          <a:prstGeom prst="rect">
            <a:avLst/>
          </a:prstGeom>
          <a:ln w="0">
            <a:noFill/>
          </a:ln>
        </p:spPr>
      </p:pic>
      <p:sp>
        <p:nvSpPr>
          <p:cNvPr id="138"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TransWeave: Intelligence Through Intertwining</a:t>
            </a:r>
            <a:endParaRPr b="0" lang="en-AU" sz="2400" spc="-1" strike="noStrike">
              <a:solidFill>
                <a:srgbClr val="000000"/>
              </a:solidFill>
              <a:latin typeface="Arial"/>
            </a:endParaRPr>
          </a:p>
        </p:txBody>
      </p:sp>
      <p:sp>
        <p:nvSpPr>
          <p:cNvPr id="139"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140"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TransWeave addresses a fundamental challenge: how can a system reuse hard-won knowledge in new contexts? Traditional transfer learning often fails catastrophically — a solution that works perfectly in one domain becomes actively harmful in another. TransWeave provides mathematical guarantees about what will transfer successfully and what must be relearned.</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key insight is treating transfer as a composition problem. Rather than copying solutions wholesale, TransWeave learns mappings between task structures and composes them in ways that preserve essential properties. It formalizes task morphisms as intertwining maps — structure-preserving transformations that approximately maintain key relationships — with proven value suboptimality bounds guaranteeing transferred solutions won't exceed a specified degradation threshold.</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Weakness is preserved multiplicatively across chains of transfer. If each step has a weakening factor, the composition has predictable total weakening. Admission certificates from SubRep propagate through the same machinery — if certain options are safe in one domain, TransWeave determines which safety aspects transfer to new domains.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TransWeave includes hierarchical ICA that identifies when solution components fundamentally cannot align between domains. When the mathematics signals impossibility, the system automatically falls back to selective transfer — moving what it can while marking specific components for relearning. This prevents the catastrophic negative transfer that plagues naive approaches.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Conceptually, TransWeave's big contribution is turning 'how do we combine many learning/reasoning steps?' into an algebra with predictable behavior. Operations almost commute with small, bounded order effects, enabling pipeline reordering and asynchronous module execution while keeping results consistent. These 'almost commutative' pieces don't just chain — they braid, obeying Yang-Baxter style laws so multi-step pipelines can be re-ordered with predictable bounded change.</a:t>
            </a:r>
            <a:endParaRPr b="0" lang="en-AU" sz="1050" spc="-1" strike="noStrike">
              <a:solidFill>
                <a:srgbClr val="000000"/>
              </a:solidFill>
              <a:latin typeface="Arial"/>
            </a:endParaRPr>
          </a:p>
        </p:txBody>
      </p:sp>
      <p:sp>
        <p:nvSpPr>
          <p:cNvPr id="141"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42"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19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43"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144" name="Image 0" descr="preencoded.png"/>
          <p:cNvPicPr/>
          <p:nvPr/>
        </p:nvPicPr>
        <p:blipFill>
          <a:blip r:embed="rId1"/>
          <a:stretch/>
        </p:blipFill>
        <p:spPr>
          <a:xfrm>
            <a:off x="411480" y="274320"/>
            <a:ext cx="383760" cy="383760"/>
          </a:xfrm>
          <a:prstGeom prst="rect">
            <a:avLst/>
          </a:prstGeom>
          <a:ln w="0">
            <a:noFill/>
          </a:ln>
        </p:spPr>
      </p:pic>
      <p:sp>
        <p:nvSpPr>
          <p:cNvPr id="145"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SubRep: Certified Subgoal Decomposition</a:t>
            </a:r>
            <a:endParaRPr b="0" lang="en-AU" sz="2400" spc="-1" strike="noStrike">
              <a:solidFill>
                <a:srgbClr val="000000"/>
              </a:solidFill>
              <a:latin typeface="Arial"/>
            </a:endParaRPr>
          </a:p>
        </p:txBody>
      </p:sp>
      <p:sp>
        <p:nvSpPr>
          <p:cNvPr id="146"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147"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SubRep turns 'find the right subgoals' into a disciplined, auditable process that works across neural, logical, and evolutionary modules. Instead of guessing which skills to learn, the planner proposes candidate options (controllers, macros, programs) and SubRep admits only those that provably help on the current slice of motives.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Two simple tests do the screening: Cone-Dominant Subtasks (CDS) keep options that improve the planner's backed-up value for all weights inside a learned motive cone. Pareto-Dominant Subtasks (PDS) keep options that improve at least some representative weights without unacceptably hurting the others. A small Motive Decomposition Network (MDN) co-learns the motive slice from the same residuals used to train option models, so the 'what we care about' geometry tightens as the system gains experience.</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Every admitted option comes with a certificate (margin or Pareto gap) that survives composition inside the planner, making reuse safe by construction. The tests are local and cheap — closed-form for box-cones, small covers for Pareto — so they can run online and keep the option library compact.</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SubRep plugs directly into Hyperon/PRIMUS: predictive-coding heads supply expected payoff summaries, logical macros and evolutionary programs export the same summaries, and the SubRep gate treats them uniformly. The result is a cross-paradigm option pipeline that grows only when a candidate demonstrably helps.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Compared with the 2023 design, SubRep adds the missing operator layer: formal admission rules, a co-learned motive geometry, and planner-safe composition guarantees. Instead of tuning subtasks to a single scalar reward and hoping they transfer, SubRep admits options that are robust across a family of motives, preventing brittle skills and reducing negative transfer.</a:t>
            </a:r>
            <a:endParaRPr b="0" lang="en-AU" sz="1050" spc="-1" strike="noStrike">
              <a:solidFill>
                <a:srgbClr val="000000"/>
              </a:solidFill>
              <a:latin typeface="Arial"/>
            </a:endParaRPr>
          </a:p>
        </p:txBody>
      </p:sp>
      <p:sp>
        <p:nvSpPr>
          <p:cNvPr id="148"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49"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20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50"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151" name="Image 0" descr="preencoded.png"/>
          <p:cNvPicPr/>
          <p:nvPr/>
        </p:nvPicPr>
        <p:blipFill>
          <a:blip r:embed="rId1"/>
          <a:stretch/>
        </p:blipFill>
        <p:spPr>
          <a:xfrm>
            <a:off x="411480" y="274320"/>
            <a:ext cx="383760" cy="383760"/>
          </a:xfrm>
          <a:prstGeom prst="rect">
            <a:avLst/>
          </a:prstGeom>
          <a:ln w="0">
            <a:noFill/>
          </a:ln>
        </p:spPr>
      </p:pic>
      <p:sp>
        <p:nvSpPr>
          <p:cNvPr id="152"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MetaMo: Compositional Motivation Architecture</a:t>
            </a:r>
            <a:endParaRPr b="0" lang="en-AU" sz="2400" spc="-1" strike="noStrike">
              <a:solidFill>
                <a:srgbClr val="000000"/>
              </a:solidFill>
              <a:latin typeface="Arial"/>
            </a:endParaRPr>
          </a:p>
        </p:txBody>
      </p:sp>
      <p:sp>
        <p:nvSpPr>
          <p:cNvPr id="153"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154"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Most contemporary AI systems treat motivation as a scalar reward signal. MetaMo recognizes that real motivation involves complex interactions between appraisal (understanding the situation), decision-making (choosing actions), and goal management (maintaining coherent purposes over time), all in pursuit of a shifting collection of multiple motives.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MetaMo models cognitive motivation through a pseudo-bimonad structure. Appraisal is modeled as a comonad (Ψ) that extracts context and meaning from situations. Decision-making is a monad (D) that constructs action sequences. These are linked by a lax distributive law capturing how 'feeling then choosing' differs slightly from 'choosing then feeling' — an asymmetry explaining many quirks of motivated behavior. The composite structure F = D∘Ψ acts as a pseudo-bimonad enabling nested cycles of appraisal and decision while maintaining mathematical coherence.</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MetaMo embodies five key principles: modular appraisal and decision (separate but coordinated), homeostatic stability (resisting runaway dynamics), reciprocal state simulation (modeling how actions affect others), motivational compositionality (goals can be decomposed and recombined), and incremental embodiment (abstract values connecting to concrete actions).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MetaMo evolves from the earlier OpenPsi motivational system used in OpenCog. While OpenPsi provided practical homeostatic needs, curiosity, and social reward, it was mostly hand-tuned and single-objective at decision time. MetaMo turns motivation into an explicit, learnable, and auditable object — representing what the system cares about as motive geometries (families of goals and constraints), learning their structure from experience, and attaching checkable certificates to choices.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In Hyperon, MetaMo controls exploration budgets, manages geodesic planning, and interfaces with SubRep to validate options. When plugged into TransWeave, the same motive signal guides neural, symbolic, and evolutionary modules consistently.</a:t>
            </a:r>
            <a:endParaRPr b="0" lang="en-AU" sz="1050" spc="-1" strike="noStrike">
              <a:solidFill>
                <a:srgbClr val="000000"/>
              </a:solidFill>
              <a:latin typeface="Arial"/>
            </a:endParaRPr>
          </a:p>
        </p:txBody>
      </p:sp>
      <p:sp>
        <p:nvSpPr>
          <p:cNvPr id="155"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56"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21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57"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158" name="Image 0" descr="preencoded.png"/>
          <p:cNvPicPr/>
          <p:nvPr/>
        </p:nvPicPr>
        <p:blipFill>
          <a:blip r:embed="rId1"/>
          <a:stretch/>
        </p:blipFill>
        <p:spPr>
          <a:xfrm>
            <a:off x="411480" y="274320"/>
            <a:ext cx="383760" cy="383760"/>
          </a:xfrm>
          <a:prstGeom prst="rect">
            <a:avLst/>
          </a:prstGeom>
          <a:ln w="0">
            <a:noFill/>
          </a:ln>
        </p:spPr>
      </p:pic>
      <p:sp>
        <p:nvSpPr>
          <p:cNvPr id="159"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Algorithmic Chemistry: Computation via Reaction Networks</a:t>
            </a:r>
            <a:endParaRPr b="0" lang="en-AU" sz="2400" spc="-1" strike="noStrike">
              <a:solidFill>
                <a:srgbClr val="000000"/>
              </a:solidFill>
              <a:latin typeface="Arial"/>
            </a:endParaRPr>
          </a:p>
        </p:txBody>
      </p:sp>
      <p:sp>
        <p:nvSpPr>
          <p:cNvPr id="160"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161"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Imagine a computational soup where rewrite rules behave like molecules — combining, reacting, and evolving based on how well they predict and achieve goals. Algorithmic chemistry is a framework where computation emerges from the interaction of simple rules rather than being imposed by fixed algorithms.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ActPC-Chem (Active Predictive Coding Chemistry) adds goal-directed dynamics to this soup. Rules that successfully reduce prediction error or advance instrumental goals become more active, while unsuccessful patterns decay. The result is a self-organizing system that discovers effective computational strategies through evolution rather than design.</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system treats both data and models as evolving metagraph-rewrite patterns. Each rule carries a weight updated through discrete active predictive coding, balancing epistemic value (reducing uncertainty) with instrumental value (achieving goals). Updates use discrete natural gradients based on optimal transport geometry — a mathematical framework ensuring stable learning in this dynamic environment.</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ActPC-Chem doesn't replace other PRIMUS components — it provides a creative substrate they can build upon. AIRIS uses its discovered structures as raw material for causal models. PLN adds logical constraints guiding which rules can combine. The system can implement transformer-like architectures where traditional backpropagation is replaced with rule-guided active predictive coding updates.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This approach only works because Hyperon provides a unified substrate. Rules, tensors, and truth values all live in the same Atomspace/MORK structure, sharing IDs, caches, and schedulers. The Weighted Atom Sweeps system naturally handles the stochastic dynamics of the chemical soup, while weakness theory provides selection pressure toward simpler, more general solutions.</a:t>
            </a:r>
            <a:endParaRPr b="0" lang="en-AU" sz="1050" spc="-1" strike="noStrike">
              <a:solidFill>
                <a:srgbClr val="000000"/>
              </a:solidFill>
              <a:latin typeface="Arial"/>
            </a:endParaRPr>
          </a:p>
        </p:txBody>
      </p:sp>
      <p:sp>
        <p:nvSpPr>
          <p:cNvPr id="162"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63"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22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64"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165" name="Image 0" descr="preencoded.png"/>
          <p:cNvPicPr/>
          <p:nvPr/>
        </p:nvPicPr>
        <p:blipFill>
          <a:blip r:embed="rId1"/>
          <a:stretch/>
        </p:blipFill>
        <p:spPr>
          <a:xfrm>
            <a:off x="411480" y="274320"/>
            <a:ext cx="383760" cy="383760"/>
          </a:xfrm>
          <a:prstGeom prst="rect">
            <a:avLst/>
          </a:prstGeom>
          <a:ln w="0">
            <a:noFill/>
          </a:ln>
        </p:spPr>
      </p:pic>
      <p:sp>
        <p:nvSpPr>
          <p:cNvPr id="166"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WILLIAM-on-MORK: Adaptive Compression for Cognition</a:t>
            </a:r>
            <a:endParaRPr b="0" lang="en-AU" sz="2400" spc="-1" strike="noStrike">
              <a:solidFill>
                <a:srgbClr val="000000"/>
              </a:solidFill>
              <a:latin typeface="Arial"/>
            </a:endParaRPr>
          </a:p>
        </p:txBody>
      </p:sp>
      <p:sp>
        <p:nvSpPr>
          <p:cNvPr id="167"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168"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WILLIAM embodies a fundamental principle: the patterns worth remembering are those that compress our experience most effectively. By moving WILLIAM directly into MORK's infrastructure, this approach transforms pattern discovery from a batch analysis tool into a real-time guide for both symbolic reasoning and neural processing.</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MORK's trie nodes now carry additional instrumentation: local occurrence counts, subtree totals, compression-gain sums, and ranked lists of top-k children by various metrics. This enables WILLIAM to expose weighted iterators that return heavy subpatterns directly from any point in the graph — no global scans required.</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API surface is minimal: iter_prefix_topk returns the k most important patterns under a prefix, iter_any_topk finds globally significant patterns, and a validation API records actual compression gains when patterns are applied.</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These iterators serve multiple masters. PLN uses them to prioritize inference on high-value subgraphs. Backward chaining follows 'heavy edges' likely to succeed. Schedulers allocate resources based on compression-adjusted priorities. The implementation handles concurrency through per-core write buffers for counts, with wait-free readers using snapshot/RCU techniques.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For neural networks, WILLIAM finds 'heavy-hitter features' to prioritize which attention heads and tokens receive computation, trigger on-demand refinement only where uncertainty justifies cost, and prune low-value frequency bands while preserving model capability. The weakness prior provides the theoretical foundation explaining why simpler patterns generalize better — not ad-hoc sparsification, but principled compression theory applied uniformly across symbolic and neural domains.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When WILLIAM identifies high-value structures, they immediately become available to guide proof search, focus neural attention, and prioritize which computations deserve scarce resources.</a:t>
            </a:r>
            <a:endParaRPr b="0" lang="en-AU" sz="1050" spc="-1" strike="noStrike">
              <a:solidFill>
                <a:srgbClr val="000000"/>
              </a:solidFill>
              <a:latin typeface="Arial"/>
            </a:endParaRPr>
          </a:p>
        </p:txBody>
      </p:sp>
      <p:sp>
        <p:nvSpPr>
          <p:cNvPr id="169"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70"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23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71"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172" name="Image 0" descr="preencoded.png"/>
          <p:cNvPicPr/>
          <p:nvPr/>
        </p:nvPicPr>
        <p:blipFill>
          <a:blip r:embed="rId1"/>
          <a:stretch/>
        </p:blipFill>
        <p:spPr>
          <a:xfrm>
            <a:off x="411480" y="274320"/>
            <a:ext cx="383760" cy="383760"/>
          </a:xfrm>
          <a:prstGeom prst="rect">
            <a:avLst/>
          </a:prstGeom>
          <a:ln w="0">
            <a:noFill/>
          </a:ln>
        </p:spPr>
      </p:pic>
      <p:sp>
        <p:nvSpPr>
          <p:cNvPr id="173"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How These Advances Work Together</a:t>
            </a:r>
            <a:endParaRPr b="0" lang="en-AU" sz="2400" spc="-1" strike="noStrike">
              <a:solidFill>
                <a:srgbClr val="000000"/>
              </a:solidFill>
              <a:latin typeface="Arial"/>
            </a:endParaRPr>
          </a:p>
        </p:txBody>
      </p:sp>
      <p:sp>
        <p:nvSpPr>
          <p:cNvPr id="174"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175"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The recent cognitive-design additions form a coherent enhancement to PRIMUS's capabilities, not independent improvements. The workflow operates as follows: Weakness-based control selects regions needing attention. WILLIAM identifies compression-worthy patterns. Fluid-dynamic ECAN routes attention optimally. PLN and ActPC-Chem refine understanding using logical and chemical dynamics. Schrödinger bridge learning provides principled curricula. MetaMo/SubRep evaluates which discovered options serve current goals. TransWeave determines what can be reused.</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Throughout this flow, the same mathematical principles apply everywhere. Weakness governs all simplicity decisions: PLN scheduling, WILLIAM's pattern selection, TransWeave's transfer filters, and PC network regularization all use the same quantale-based framework. Geodesic control guides all planning: the f·g product structure appears in inference, evolutionary search, transfer learning, bridge interpolation, and motivational decisions. Optimal transport unifies dynamics: fluid-dynamic attention, bridge learning trajectories, and ActPC-Chem's gradient flows all leverage entropic transport. Content addressing unifies storage: all components — templates, certificates, chemical rules, transfer maps — are CID-addressed MORK objects with constant-time verification.</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This enables capabilities that none could achieve alone: patterns discovered by WILLIAM become chemical rules in ActPC-Chem; chemical dynamics discover structures TransWeave can transfer; transferred solutions maintain SubRep certificates; attention flow patterns learned through fluid dynamics transfer via TransWeave; Schrödinger bridges guide both neural and evolutionary learning; weakness regularization ensures increased capability doesn't mean increased brittleness; and MetaMo's motivation system coordinates all processes toward coherent goals.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These arise from shared mathematical foundations rather than ad-hoc engineering — suggesting discovery of principles from which intelligence naturally emerges.</a:t>
            </a:r>
            <a:endParaRPr b="0" lang="en-AU" sz="1050" spc="-1" strike="noStrike">
              <a:solidFill>
                <a:srgbClr val="000000"/>
              </a:solidFill>
              <a:latin typeface="Arial"/>
            </a:endParaRPr>
          </a:p>
        </p:txBody>
      </p:sp>
      <p:sp>
        <p:nvSpPr>
          <p:cNvPr id="176"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77"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24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3d"/>
        </a:solidFill>
      </p:bgPr>
    </p:bg>
    <p:spTree>
      <p:nvGrpSpPr>
        <p:cNvPr id="1" name=""/>
        <p:cNvGrpSpPr/>
        <p:nvPr/>
      </p:nvGrpSpPr>
      <p:grpSpPr>
        <a:xfrm>
          <a:off x="0" y="0"/>
          <a:ext cx="0" cy="0"/>
          <a:chOff x="0" y="0"/>
          <a:chExt cx="0" cy="0"/>
        </a:xfrm>
      </p:grpSpPr>
      <p:sp>
        <p:nvSpPr>
          <p:cNvPr id="178" name="Shape 0"/>
          <p:cNvSpPr/>
          <p:nvPr/>
        </p:nvSpPr>
        <p:spPr>
          <a:xfrm>
            <a:off x="0" y="0"/>
            <a:ext cx="9143640" cy="54360"/>
          </a:xfrm>
          <a:prstGeom prst="rect">
            <a:avLst/>
          </a:prstGeom>
          <a:solidFill>
            <a:srgbClr val="22d3ee"/>
          </a:solidFill>
          <a:ln w="0">
            <a:noFill/>
          </a:ln>
        </p:spPr>
        <p:style>
          <a:lnRef idx="0"/>
          <a:fillRef idx="0"/>
          <a:effectRef idx="0"/>
          <a:fontRef idx="minor"/>
        </p:style>
        <p:txBody>
          <a:bodyPr lIns="90000" rIns="90000" tIns="9720" bIns="9720" anchor="t">
            <a:noAutofit/>
          </a:bodyPr>
          <a:p>
            <a:endParaRPr b="0" lang="en-AU" sz="1800" spc="-1" strike="noStrike">
              <a:solidFill>
                <a:srgbClr val="000000"/>
              </a:solidFill>
              <a:latin typeface="Arial"/>
            </a:endParaRPr>
          </a:p>
        </p:txBody>
      </p:sp>
      <p:sp>
        <p:nvSpPr>
          <p:cNvPr id="179" name="Text 1"/>
          <p:cNvSpPr/>
          <p:nvPr/>
        </p:nvSpPr>
        <p:spPr>
          <a:xfrm>
            <a:off x="731520" y="914400"/>
            <a:ext cx="1828440" cy="1462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0" spc="-1" strike="noStrike">
                <a:solidFill>
                  <a:srgbClr val="0891b2"/>
                </a:solidFill>
                <a:latin typeface="Georgia"/>
                <a:ea typeface="Georgia"/>
              </a:rPr>
              <a:t>05</a:t>
            </a:r>
            <a:endParaRPr b="0" lang="en-AU" sz="7200" spc="-1" strike="noStrike">
              <a:solidFill>
                <a:srgbClr val="ffffff"/>
              </a:solidFill>
              <a:latin typeface="Arial"/>
            </a:endParaRPr>
          </a:p>
        </p:txBody>
      </p:sp>
      <p:sp>
        <p:nvSpPr>
          <p:cNvPr id="180" name="Text 2"/>
          <p:cNvSpPr/>
          <p:nvPr/>
        </p:nvSpPr>
        <p:spPr>
          <a:xfrm>
            <a:off x="731520" y="2377440"/>
            <a:ext cx="768060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ffffff"/>
                </a:solidFill>
                <a:latin typeface="Georgia"/>
                <a:ea typeface="Georgia"/>
              </a:rPr>
              <a:t>Re-Visioned Longstanding Components</a:t>
            </a:r>
            <a:endParaRPr b="0" lang="en-AU" sz="3200" spc="-1" strike="noStrike">
              <a:solidFill>
                <a:srgbClr val="ffffff"/>
              </a:solidFill>
              <a:latin typeface="Arial"/>
            </a:endParaRPr>
          </a:p>
        </p:txBody>
      </p:sp>
      <p:sp>
        <p:nvSpPr>
          <p:cNvPr id="181" name="Text 3"/>
          <p:cNvSpPr/>
          <p:nvPr/>
        </p:nvSpPr>
        <p:spPr>
          <a:xfrm>
            <a:off x="731520" y="3154680"/>
            <a:ext cx="7314840" cy="1096920"/>
          </a:xfrm>
          <a:prstGeom prst="rect">
            <a:avLst/>
          </a:prstGeom>
          <a:noFill/>
          <a:ln w="0">
            <a:noFill/>
          </a:ln>
        </p:spPr>
        <p:style>
          <a:lnRef idx="0"/>
          <a:fillRef idx="0"/>
          <a:effectRef idx="0"/>
          <a:fontRef idx="minor"/>
        </p:style>
        <p:txBody>
          <a:bodyPr lIns="0" rIns="0" tIns="0" bIns="0" anchor="t">
            <a:noAutofit/>
          </a:bodyPr>
          <a:p>
            <a:pPr defTabSz="914400">
              <a:lnSpc>
                <a:spcPct val="135000"/>
              </a:lnSpc>
              <a:tabLst>
                <a:tab algn="l" pos="0"/>
              </a:tabLst>
            </a:pPr>
            <a:r>
              <a:rPr b="0" lang="en-US" sz="1400" spc="-1" strike="noStrike">
                <a:solidFill>
                  <a:srgbClr val="e0f2fe"/>
                </a:solidFill>
                <a:latin typeface="Calibri"/>
                <a:ea typeface="Calibri"/>
              </a:rPr>
              <a:t>PLN, MOSES/GEO-EVO, ECAN, pattern mining, and concept blending — venerable AI methods acquiring new aspects through geodesic control, weakness theory, TransWeave integration, and MORK-optimized implementation.</a:t>
            </a:r>
            <a:endParaRPr b="0" lang="en-AU" sz="1400" spc="-1" strike="noStrike">
              <a:solidFill>
                <a:srgbClr val="ffffff"/>
              </a:solidFill>
              <a:latin typeface="Arial"/>
            </a:endParaRPr>
          </a:p>
        </p:txBody>
      </p:sp>
      <p:sp>
        <p:nvSpPr>
          <p:cNvPr id="182" name="Shape 4"/>
          <p:cNvSpPr/>
          <p:nvPr/>
        </p:nvSpPr>
        <p:spPr>
          <a:xfrm>
            <a:off x="0" y="4892040"/>
            <a:ext cx="9143640" cy="251280"/>
          </a:xfrm>
          <a:prstGeom prst="rect">
            <a:avLst/>
          </a:prstGeom>
          <a:solidFill>
            <a:srgbClr val="0a1128"/>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83"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4748b"/>
                </a:solidFill>
                <a:latin typeface="Calibri"/>
                <a:ea typeface="Calibri"/>
              </a:rPr>
              <a:t>25 / 40</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84"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185" name="Image 0" descr="preencoded.png"/>
          <p:cNvPicPr/>
          <p:nvPr/>
        </p:nvPicPr>
        <p:blipFill>
          <a:blip r:embed="rId1"/>
          <a:stretch/>
        </p:blipFill>
        <p:spPr>
          <a:xfrm>
            <a:off x="411480" y="274320"/>
            <a:ext cx="383760" cy="383760"/>
          </a:xfrm>
          <a:prstGeom prst="rect">
            <a:avLst/>
          </a:prstGeom>
          <a:ln w="0">
            <a:noFill/>
          </a:ln>
        </p:spPr>
      </p:pic>
      <p:sp>
        <p:nvSpPr>
          <p:cNvPr id="186"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PLN: Probabilistic Logic Networks Revisioned</a:t>
            </a:r>
            <a:endParaRPr b="0" lang="en-AU" sz="2400" spc="-1" strike="noStrike">
              <a:solidFill>
                <a:srgbClr val="000000"/>
              </a:solidFill>
              <a:latin typeface="Arial"/>
            </a:endParaRPr>
          </a:p>
        </p:txBody>
      </p:sp>
      <p:sp>
        <p:nvSpPr>
          <p:cNvPr id="187"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188"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PLN is PRIMUS's uncertain reasoning backbone, treating knowledge as a typed metagraph of propositions and rules. It carries both what the system believes and how strongly via simple, interpretable truth values (strength and confidence). PLN's design has always emphasized flexible 'omni-ward' chaining (forward, backward, inward, outward) and programmable inference control.</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2025 PLN adds geodesic control: maintaining both forward factors (from premises) and backward factors (from goals) and moving along steps that progress both — an instance of the Schrödinger-bridge view where optimal paths conserve evidence and bound order-effects. This makes PLN updates naturally interleave with other learners.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For native MORK implementation, PLN can use backward or forward chaining traversing MORK prefix trees with geodesic heuristics, or lay out factor graphs atop MORK's prefix trees for decentralized bottom-up control.</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Factor graphs for PLN encode truth values as elements in a commutative quantale, creating a combined product quantale carrying both structural and probabilistic information. Each proposition becomes a VariableAtom with truth value payloads; each inference rule becomes a FactorAtom with a local potential function. MORK's PathMap makes neighbor lookups nearly instantaneous.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orchestration layer handles distributed inference realities: damping to prevent oscillation, termination detection, independence-error heuristics to avoid double-counting evidence, and capsule logging for debugging and provenance. This approach is efficient for large-scale intuition-building 'background reasoning' on large knowledge bases.</a:t>
            </a:r>
            <a:endParaRPr b="0" lang="en-AU" sz="1050" spc="-1" strike="noStrike">
              <a:solidFill>
                <a:srgbClr val="000000"/>
              </a:solidFill>
              <a:latin typeface="Arial"/>
            </a:endParaRPr>
          </a:p>
        </p:txBody>
      </p:sp>
      <p:sp>
        <p:nvSpPr>
          <p:cNvPr id="189"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90"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26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91"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192" name="Image 0" descr="preencoded.png"/>
          <p:cNvPicPr/>
          <p:nvPr/>
        </p:nvPicPr>
        <p:blipFill>
          <a:blip r:embed="rId1"/>
          <a:stretch/>
        </p:blipFill>
        <p:spPr>
          <a:xfrm>
            <a:off x="411480" y="274320"/>
            <a:ext cx="383760" cy="383760"/>
          </a:xfrm>
          <a:prstGeom prst="rect">
            <a:avLst/>
          </a:prstGeom>
          <a:ln w="0">
            <a:noFill/>
          </a:ln>
        </p:spPr>
      </p:pic>
      <p:sp>
        <p:nvSpPr>
          <p:cNvPr id="193"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MOSES &amp; GEO-EVO: Evolutionary Program Search</a:t>
            </a:r>
            <a:endParaRPr b="0" lang="en-AU" sz="2400" spc="-1" strike="noStrike">
              <a:solidFill>
                <a:srgbClr val="000000"/>
              </a:solidFill>
              <a:latin typeface="Arial"/>
            </a:endParaRPr>
          </a:p>
        </p:txBody>
      </p:sp>
      <p:sp>
        <p:nvSpPr>
          <p:cNvPr id="194"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195"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MOSES is Hyperon/PRIMUS's automatic program learning methodology, bringing estimation of distribution algorithms together with evolutionary programming. It searches over spaces of small, human-readable programs — controllers, predicates, macros — that live directly in the Atomspace, organized into local 'demes' (nearby template families).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MOSES embeds naturally into MORK since its programs are represented as MORK subtrees. Program templates, factor-graph priors, and deme statistics are content-addressed Atoms. MORK deduplicates near-identical candidates, indexes parameter neighborhoods for fast sampling, and streams only the 'delta' of changed subgraph for high throughput.</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GEO-EVO is the deep integration of MOSES with TransWeave, adding bidirectional guidance: forward search from what we have and backward 'teleological' search from what we want, meeting in the middle along minimum-effort paths. This isn't random mutation slowly veering toward solutions — it's principled exploration respecting both program space structure and driving goals.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GEO-EVO's two-ended guidance maintains forward reachability factors (can we get there from here?) and backward compatibility factors (is it useful for our goals?). The system expands search where the product of these factors increases most per unit effort, while maintaining roughly constant computational cost per step. The mathematics guarantees intermediate steps balance exploratory diversity with goal-directed progress.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TransWeave enriches the picture by casting evolution as stochastic dynamic programming with typed transfer operators between logic, evolution, and neural value learners. PLN subgoals can bias evolutionary variation; evolutionary regularities feed back as new rules; neural critics provide amortized value estimates — and the commutator gaps are bounded so steps can be reordered without breaking progress.</a:t>
            </a:r>
            <a:endParaRPr b="0" lang="en-AU" sz="1050" spc="-1" strike="noStrike">
              <a:solidFill>
                <a:srgbClr val="000000"/>
              </a:solidFill>
              <a:latin typeface="Arial"/>
            </a:endParaRPr>
          </a:p>
        </p:txBody>
      </p:sp>
      <p:sp>
        <p:nvSpPr>
          <p:cNvPr id="196"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197"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27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98"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199" name="Image 0" descr="preencoded.png"/>
          <p:cNvPicPr/>
          <p:nvPr/>
        </p:nvPicPr>
        <p:blipFill>
          <a:blip r:embed="rId1"/>
          <a:stretch/>
        </p:blipFill>
        <p:spPr>
          <a:xfrm>
            <a:off x="411480" y="274320"/>
            <a:ext cx="383760" cy="383760"/>
          </a:xfrm>
          <a:prstGeom prst="rect">
            <a:avLst/>
          </a:prstGeom>
          <a:ln w="0">
            <a:noFill/>
          </a:ln>
        </p:spPr>
      </p:pic>
      <p:sp>
        <p:nvSpPr>
          <p:cNvPr id="200"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ECAN, Pattern Mining, and Concept Blending</a:t>
            </a:r>
            <a:endParaRPr b="0" lang="en-AU" sz="2400" spc="-1" strike="noStrike">
              <a:solidFill>
                <a:srgbClr val="000000"/>
              </a:solidFill>
              <a:latin typeface="Arial"/>
            </a:endParaRPr>
          </a:p>
        </p:txBody>
      </p:sp>
      <p:sp>
        <p:nvSpPr>
          <p:cNvPr id="201"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202"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ECAN (Economic Attention Network) is Hyperon's primary generic attention allocator, spreading two 'currencies' — short-term importance (STI) and long-term importance (LTI) — over the metagraph. The design is intentionally simple: importance rents, diffusion along links, and accumulation of durable relevance, tuned so the system neither fixates nor thrashes. ECAN's importance-based selection is implemented with high efficiency on MORK via embedding statistical records directly on MORK nodes. Information-geometric geodesic methods accelerate ECAN, fitting directly into the TransWeave perspective. Fluid-dynamical methods guide attentional flow on microscopic time-scales between ECAN iterations.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Pattern Mining finds reusable structures — templates that recur across contexts — to prime reasoning, suggest subgoals, and compress knowledge. The approach is incremental and stream-based: generate abstract templates, specialize, filter by support, expand conjunctions, and rank by I-surprisingness — keeping everything as nondeterministic streams until the final tally. This makes it natural to run continuously as knowledge drifts. Under the TransWeave lens, mining becomes two-ended geodesic discovery between a data-driven prior over candidate patterns and a goal-driven posterior over useful patterns. Efficient MORK implementation applies especially when patterns are naturally expressed as subtrees — matches are PathMap traversals, candidates stored once and referenced many times, counts kept as capsule summaries at nodes.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Concept Blending creates novel ideas by merging properties from source concepts so results show useful emergent structure. In Hyperon, blends are metagraph constructs tested by the same evaluators that rate patterns, proofs, or programs — making blending a first-class, auditable operation. In a TransWeave setting, blending becomes a transport path in concept space, minimizing effort while preserving the constraints each source contributes. Sources, alignments, and blends are content-addressed on MORK with shared sub-parts deduplicating automatically.</a:t>
            </a:r>
            <a:endParaRPr b="0" lang="en-AU" sz="1050" spc="-1" strike="noStrike">
              <a:solidFill>
                <a:srgbClr val="000000"/>
              </a:solidFill>
              <a:latin typeface="Arial"/>
            </a:endParaRPr>
          </a:p>
        </p:txBody>
      </p:sp>
      <p:sp>
        <p:nvSpPr>
          <p:cNvPr id="203"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204"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28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3d"/>
        </a:solidFill>
      </p:bgPr>
    </p:bg>
    <p:spTree>
      <p:nvGrpSpPr>
        <p:cNvPr id="1" name=""/>
        <p:cNvGrpSpPr/>
        <p:nvPr/>
      </p:nvGrpSpPr>
      <p:grpSpPr>
        <a:xfrm>
          <a:off x="0" y="0"/>
          <a:ext cx="0" cy="0"/>
          <a:chOff x="0" y="0"/>
          <a:chExt cx="0" cy="0"/>
        </a:xfrm>
      </p:grpSpPr>
      <p:sp>
        <p:nvSpPr>
          <p:cNvPr id="205" name="Shape 0"/>
          <p:cNvSpPr/>
          <p:nvPr/>
        </p:nvSpPr>
        <p:spPr>
          <a:xfrm>
            <a:off x="0" y="0"/>
            <a:ext cx="9143640" cy="54360"/>
          </a:xfrm>
          <a:prstGeom prst="rect">
            <a:avLst/>
          </a:prstGeom>
          <a:solidFill>
            <a:srgbClr val="22d3ee"/>
          </a:solidFill>
          <a:ln w="0">
            <a:noFill/>
          </a:ln>
        </p:spPr>
        <p:style>
          <a:lnRef idx="0"/>
          <a:fillRef idx="0"/>
          <a:effectRef idx="0"/>
          <a:fontRef idx="minor"/>
        </p:style>
        <p:txBody>
          <a:bodyPr lIns="90000" rIns="90000" tIns="9720" bIns="9720" anchor="t">
            <a:noAutofit/>
          </a:bodyPr>
          <a:p>
            <a:endParaRPr b="0" lang="en-AU" sz="1800" spc="-1" strike="noStrike">
              <a:solidFill>
                <a:srgbClr val="000000"/>
              </a:solidFill>
              <a:latin typeface="Arial"/>
            </a:endParaRPr>
          </a:p>
        </p:txBody>
      </p:sp>
      <p:sp>
        <p:nvSpPr>
          <p:cNvPr id="206" name="Text 1"/>
          <p:cNvSpPr/>
          <p:nvPr/>
        </p:nvSpPr>
        <p:spPr>
          <a:xfrm>
            <a:off x="731520" y="914400"/>
            <a:ext cx="1828440" cy="1462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0" spc="-1" strike="noStrike">
                <a:solidFill>
                  <a:srgbClr val="0891b2"/>
                </a:solidFill>
                <a:latin typeface="Georgia"/>
                <a:ea typeface="Georgia"/>
              </a:rPr>
              <a:t>06</a:t>
            </a:r>
            <a:endParaRPr b="0" lang="en-AU" sz="7200" spc="-1" strike="noStrike">
              <a:solidFill>
                <a:srgbClr val="ffffff"/>
              </a:solidFill>
              <a:latin typeface="Arial"/>
            </a:endParaRPr>
          </a:p>
        </p:txBody>
      </p:sp>
      <p:sp>
        <p:nvSpPr>
          <p:cNvPr id="207" name="Text 2"/>
          <p:cNvSpPr/>
          <p:nvPr/>
        </p:nvSpPr>
        <p:spPr>
          <a:xfrm>
            <a:off x="731520" y="2377440"/>
            <a:ext cx="768060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ffffff"/>
                </a:solidFill>
                <a:latin typeface="Georgia"/>
                <a:ea typeface="Georgia"/>
              </a:rPr>
              <a:t>Neural-Symbolic Synergy in Hyperon</a:t>
            </a:r>
            <a:endParaRPr b="0" lang="en-AU" sz="3200" spc="-1" strike="noStrike">
              <a:solidFill>
                <a:srgbClr val="ffffff"/>
              </a:solidFill>
              <a:latin typeface="Arial"/>
            </a:endParaRPr>
          </a:p>
        </p:txBody>
      </p:sp>
      <p:sp>
        <p:nvSpPr>
          <p:cNvPr id="208" name="Text 3"/>
          <p:cNvSpPr/>
          <p:nvPr/>
        </p:nvSpPr>
        <p:spPr>
          <a:xfrm>
            <a:off x="731520" y="3154680"/>
            <a:ext cx="7314840" cy="1096920"/>
          </a:xfrm>
          <a:prstGeom prst="rect">
            <a:avLst/>
          </a:prstGeom>
          <a:noFill/>
          <a:ln w="0">
            <a:noFill/>
          </a:ln>
        </p:spPr>
        <p:style>
          <a:lnRef idx="0"/>
          <a:fillRef idx="0"/>
          <a:effectRef idx="0"/>
          <a:fontRef idx="minor"/>
        </p:style>
        <p:txBody>
          <a:bodyPr lIns="0" rIns="0" tIns="0" bIns="0" anchor="t">
            <a:noAutofit/>
          </a:bodyPr>
          <a:p>
            <a:pPr defTabSz="914400">
              <a:lnSpc>
                <a:spcPct val="135000"/>
              </a:lnSpc>
              <a:tabLst>
                <a:tab algn="l" pos="0"/>
              </a:tabLst>
            </a:pPr>
            <a:r>
              <a:rPr b="0" lang="en-US" sz="1400" spc="-1" strike="noStrike">
                <a:solidFill>
                  <a:srgbClr val="e0f2fe"/>
                </a:solidFill>
                <a:latin typeface="Calibri"/>
                <a:ea typeface="Calibri"/>
              </a:rPr>
              <a:t>Symbolic Heads, pattern mining as neural prior discovery, QuantiMORK inside integration, weakness-based stability, and WILLIAM-guided neural efficiency — eliminating the historical divide between symbolic and connectionist AI.</a:t>
            </a:r>
            <a:endParaRPr b="0" lang="en-AU" sz="1400" spc="-1" strike="noStrike">
              <a:solidFill>
                <a:srgbClr val="ffffff"/>
              </a:solidFill>
              <a:latin typeface="Arial"/>
            </a:endParaRPr>
          </a:p>
        </p:txBody>
      </p:sp>
      <p:sp>
        <p:nvSpPr>
          <p:cNvPr id="209" name="Shape 4"/>
          <p:cNvSpPr/>
          <p:nvPr/>
        </p:nvSpPr>
        <p:spPr>
          <a:xfrm>
            <a:off x="0" y="4892040"/>
            <a:ext cx="9143640" cy="251280"/>
          </a:xfrm>
          <a:prstGeom prst="rect">
            <a:avLst/>
          </a:prstGeom>
          <a:solidFill>
            <a:srgbClr val="0a1128"/>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210"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4748b"/>
                </a:solidFill>
                <a:latin typeface="Calibri"/>
                <a:ea typeface="Calibri"/>
              </a:rPr>
              <a:t>29 / 40</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11"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212" name="Image 0" descr="preencoded.png"/>
          <p:cNvPicPr/>
          <p:nvPr/>
        </p:nvPicPr>
        <p:blipFill>
          <a:blip r:embed="rId1"/>
          <a:stretch/>
        </p:blipFill>
        <p:spPr>
          <a:xfrm>
            <a:off x="411480" y="274320"/>
            <a:ext cx="383760" cy="383760"/>
          </a:xfrm>
          <a:prstGeom prst="rect">
            <a:avLst/>
          </a:prstGeom>
          <a:ln w="0">
            <a:noFill/>
          </a:ln>
        </p:spPr>
      </p:pic>
      <p:sp>
        <p:nvSpPr>
          <p:cNvPr id="213"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Symbolic Heads and Neural Prior Discovery</a:t>
            </a:r>
            <a:endParaRPr b="0" lang="en-AU" sz="2400" spc="-1" strike="noStrike">
              <a:solidFill>
                <a:srgbClr val="000000"/>
              </a:solidFill>
              <a:latin typeface="Arial"/>
            </a:endParaRPr>
          </a:p>
        </p:txBody>
      </p:sp>
      <p:sp>
        <p:nvSpPr>
          <p:cNvPr id="214"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215"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Standard Transformers struggle with structured knowledge — they compress everything into continuous vectors, losing track of discrete relationships, logical constraints, and reusable templates. Hyperon introduces Symbolic Heads that augment each Transformer layer with a discrete memory system, like giving the model a structured notebook for templates, rules, and patterns.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implementation adds minimal complexity: First, training text is parsed into Atomspace graphs and frequent subgraphs are mined using WILLIAM, becoming key-value pairs in a template store. Then each layer learns to project hidden states into a key space aligned with template keys through contrastive and reconstruction losses. At runtime, for each token the model projects its hidden state to a query, retrieves top-m templates by similarity, computes attention over them, and injects the weighted combination back into the hidden state — all in parallel with standard self-attention.</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Pattern Miner provides the symbolic content following the elegant pipeline used throughout PRIMUS: generate abstract patterns, specialize, filter by support, expand conjunctions, rank by I-surprisingness. Since everything remains as lazy streams until final scoring, the mining process integrates naturally with the Transformer's dynamic needs.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The patterns that WILLIAM and the mining pipeline discover aren't just useful for symbolic reasoning — they're exactly the structural priors that help neural networks generalize better. By continuously mining patterns from both the knowledge base and the neural network's own representations, a virtuous cycle emerges where structure discovery enhances both symbolic and neural processing.</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MeTTa's stream-based processing enables efficient operations: support counts pattern occurrences without materializing full result sets, match-count tallies matches using PathMap indices, and expand-conjunction creates complex patterns from simple ones. These work lazily — mining patterns from trillion-edge graphs without exhaustive enumeration.</a:t>
            </a:r>
            <a:endParaRPr b="0" lang="en-AU" sz="1050" spc="-1" strike="noStrike">
              <a:solidFill>
                <a:srgbClr val="000000"/>
              </a:solidFill>
              <a:latin typeface="Arial"/>
            </a:endParaRPr>
          </a:p>
        </p:txBody>
      </p:sp>
      <p:sp>
        <p:nvSpPr>
          <p:cNvPr id="216"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217"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30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18"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219" name="Image 0" descr="preencoded.png"/>
          <p:cNvPicPr/>
          <p:nvPr/>
        </p:nvPicPr>
        <p:blipFill>
          <a:blip r:embed="rId1"/>
          <a:stretch/>
        </p:blipFill>
        <p:spPr>
          <a:xfrm>
            <a:off x="411480" y="274320"/>
            <a:ext cx="383760" cy="383760"/>
          </a:xfrm>
          <a:prstGeom prst="rect">
            <a:avLst/>
          </a:prstGeom>
          <a:ln w="0">
            <a:noFill/>
          </a:ln>
        </p:spPr>
      </p:pic>
      <p:sp>
        <p:nvSpPr>
          <p:cNvPr id="220"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QuantiMORK Deep Integration &amp; Stability</a:t>
            </a:r>
            <a:endParaRPr b="0" lang="en-AU" sz="2400" spc="-1" strike="noStrike">
              <a:solidFill>
                <a:srgbClr val="000000"/>
              </a:solidFill>
              <a:latin typeface="Arial"/>
            </a:endParaRPr>
          </a:p>
        </p:txBody>
      </p:sp>
      <p:sp>
        <p:nvSpPr>
          <p:cNvPr id="221"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222" name="Shape 3"/>
          <p:cNvSpPr/>
          <p:nvPr/>
        </p:nvSpPr>
        <p:spPr>
          <a:xfrm>
            <a:off x="411480" y="1051560"/>
            <a:ext cx="3931560" cy="365724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23" name="Text 4"/>
          <p:cNvSpPr/>
          <p:nvPr/>
        </p:nvSpPr>
        <p:spPr>
          <a:xfrm>
            <a:off x="594360" y="1097280"/>
            <a:ext cx="35658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0891b2"/>
                </a:solidFill>
                <a:latin typeface="Georgia"/>
                <a:ea typeface="Georgia"/>
              </a:rPr>
              <a:t>QuantiMORK: Neural Nets as Graph Ops</a:t>
            </a:r>
            <a:endParaRPr b="0" lang="en-AU" sz="1300" spc="-1" strike="noStrike">
              <a:solidFill>
                <a:srgbClr val="000000"/>
              </a:solidFill>
              <a:latin typeface="Arial"/>
            </a:endParaRPr>
          </a:p>
        </p:txBody>
      </p:sp>
      <p:sp>
        <p:nvSpPr>
          <p:cNvPr id="224" name="Text 5"/>
          <p:cNvSpPr/>
          <p:nvPr/>
        </p:nvSpPr>
        <p:spPr>
          <a:xfrm>
            <a:off x="594360" y="1463040"/>
            <a:ext cx="3565800" cy="3108600"/>
          </a:xfrm>
          <a:prstGeom prst="rect">
            <a:avLst/>
          </a:prstGeom>
          <a:noFill/>
          <a:ln w="0">
            <a:noFill/>
          </a:ln>
        </p:spPr>
        <p:style>
          <a:lnRef idx="0"/>
          <a:fillRef idx="0"/>
          <a:effectRef idx="0"/>
          <a:fontRef idx="minor"/>
        </p:style>
        <p:txBody>
          <a:bodyPr lIns="0" rIns="0" tIns="0" bIns="0" anchor="t">
            <a:noAutofit/>
          </a:bodyPr>
          <a:p>
            <a:pPr defTabSz="914400">
              <a:lnSpc>
                <a:spcPct val="125000"/>
              </a:lnSpc>
              <a:tabLst>
                <a:tab algn="l" pos="0"/>
              </a:tabLst>
            </a:pPr>
            <a:r>
              <a:rPr b="0" lang="en-US" sz="1000" spc="-1" strike="noStrike">
                <a:solidFill>
                  <a:srgbClr val="1e293b"/>
                </a:solidFill>
                <a:latin typeface="Calibri"/>
                <a:ea typeface="Calibri"/>
              </a:rPr>
              <a:t>QuantiMORK encodes tensors using discrete wavelet transforms, storing coefficients as Atoms keyed by (level, band, position). This hierarchical representation supports selective refinement (compute only where uncertainty is high), progressive processing (start coarse, refine where needed), and structure sharing (common subpatterns become shared subtrees).</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Ground-atom operations like gpu-conv, gpu-loss, and gpu-backprop work directly on these structures. MeTTa rules orchestrate computation, implementing everything from forward passes to predictive coding updates.</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Local PC updates mean computation focuses on high-error regions, different network parts update asynchronously, symbolic rules can intervene at any level, and memory scales with active regions — not total model size.</a:t>
            </a:r>
            <a:endParaRPr b="0" lang="en-AU" sz="1000" spc="-1" strike="noStrike">
              <a:solidFill>
                <a:srgbClr val="000000"/>
              </a:solidFill>
              <a:latin typeface="Arial"/>
            </a:endParaRPr>
          </a:p>
        </p:txBody>
      </p:sp>
      <p:sp>
        <p:nvSpPr>
          <p:cNvPr id="225" name="Shape 6"/>
          <p:cNvSpPr/>
          <p:nvPr/>
        </p:nvSpPr>
        <p:spPr>
          <a:xfrm>
            <a:off x="4754880" y="1051560"/>
            <a:ext cx="3931560" cy="365724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26" name="Text 7"/>
          <p:cNvSpPr/>
          <p:nvPr/>
        </p:nvSpPr>
        <p:spPr>
          <a:xfrm>
            <a:off x="4937760" y="1097280"/>
            <a:ext cx="35658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0891b2"/>
                </a:solidFill>
                <a:latin typeface="Georgia"/>
                <a:ea typeface="Georgia"/>
              </a:rPr>
              <a:t>Weakness-Based Learning Stability</a:t>
            </a:r>
            <a:endParaRPr b="0" lang="en-AU" sz="1300" spc="-1" strike="noStrike">
              <a:solidFill>
                <a:srgbClr val="000000"/>
              </a:solidFill>
              <a:latin typeface="Arial"/>
            </a:endParaRPr>
          </a:p>
        </p:txBody>
      </p:sp>
      <p:sp>
        <p:nvSpPr>
          <p:cNvPr id="227" name="Text 8"/>
          <p:cNvSpPr/>
          <p:nvPr/>
        </p:nvSpPr>
        <p:spPr>
          <a:xfrm>
            <a:off x="4937760" y="1463040"/>
            <a:ext cx="3565800" cy="3108600"/>
          </a:xfrm>
          <a:prstGeom prst="rect">
            <a:avLst/>
          </a:prstGeom>
          <a:noFill/>
          <a:ln w="0">
            <a:noFill/>
          </a:ln>
        </p:spPr>
        <p:style>
          <a:lnRef idx="0"/>
          <a:fillRef idx="0"/>
          <a:effectRef idx="0"/>
          <a:fontRef idx="minor"/>
        </p:style>
        <p:txBody>
          <a:bodyPr lIns="0" rIns="0" tIns="0" bIns="0" anchor="t">
            <a:noAutofit/>
          </a:bodyPr>
          <a:p>
            <a:pPr defTabSz="914400">
              <a:lnSpc>
                <a:spcPct val="125000"/>
              </a:lnSpc>
              <a:tabLst>
                <a:tab algn="l" pos="0"/>
              </a:tabLst>
            </a:pPr>
            <a:r>
              <a:rPr b="0" lang="en-US" sz="1000" spc="-1" strike="noStrike">
                <a:solidFill>
                  <a:srgbClr val="1e293b"/>
                </a:solidFill>
                <a:latin typeface="Calibri"/>
                <a:ea typeface="Calibri"/>
              </a:rPr>
              <a:t>Predictive coding networks juggle multiple update streams: bottom-up sensory errors, top-down predictions, lateral competition, and reward modifications. Without coordination, these updates interfere destructively — catastrophic forgetting ensues.</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The solution lies in commutativity: if different update types commute with each other, the network is better-behaved and supports continual learning. This is enforced via non-commutativity penalties in the loss function — soft pressure maintaining flexibility while improving stability.</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This mirrors MetaMo's design principle that appraisal and decision should approximately commute. The same mathematics ensuring goal stability also ensures learning stability — two among the multiple composing commutativity properties characterizing the TransWeave-based design.</a:t>
            </a:r>
            <a:endParaRPr b="0" lang="en-AU" sz="1000" spc="-1" strike="noStrike">
              <a:solidFill>
                <a:srgbClr val="000000"/>
              </a:solidFill>
              <a:latin typeface="Arial"/>
            </a:endParaRPr>
          </a:p>
        </p:txBody>
      </p:sp>
      <p:sp>
        <p:nvSpPr>
          <p:cNvPr id="228" name="Shape 9"/>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229" name="Text 10"/>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31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30"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231" name="Image 0" descr="preencoded.png"/>
          <p:cNvPicPr/>
          <p:nvPr/>
        </p:nvPicPr>
        <p:blipFill>
          <a:blip r:embed="rId1"/>
          <a:stretch/>
        </p:blipFill>
        <p:spPr>
          <a:xfrm>
            <a:off x="411480" y="274320"/>
            <a:ext cx="383760" cy="383760"/>
          </a:xfrm>
          <a:prstGeom prst="rect">
            <a:avLst/>
          </a:prstGeom>
          <a:ln w="0">
            <a:noFill/>
          </a:ln>
        </p:spPr>
      </p:pic>
      <p:sp>
        <p:nvSpPr>
          <p:cNvPr id="232"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Example Neural/Hyperon Workflows</a:t>
            </a:r>
            <a:endParaRPr b="0" lang="en-AU" sz="2400" spc="-1" strike="noStrike">
              <a:solidFill>
                <a:srgbClr val="000000"/>
              </a:solidFill>
              <a:latin typeface="Arial"/>
            </a:endParaRPr>
          </a:p>
        </p:txBody>
      </p:sp>
      <p:sp>
        <p:nvSpPr>
          <p:cNvPr id="233"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234" name="Shape 3"/>
          <p:cNvSpPr/>
          <p:nvPr/>
        </p:nvSpPr>
        <p:spPr>
          <a:xfrm>
            <a:off x="411480" y="1051560"/>
            <a:ext cx="3931560" cy="365724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35" name="Text 4"/>
          <p:cNvSpPr/>
          <p:nvPr/>
        </p:nvSpPr>
        <p:spPr>
          <a:xfrm>
            <a:off x="594360" y="1097280"/>
            <a:ext cx="35658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0891b2"/>
                </a:solidFill>
                <a:latin typeface="Georgia"/>
                <a:ea typeface="Georgia"/>
              </a:rPr>
              <a:t>Outside: Symbolic Augmentation</a:t>
            </a:r>
            <a:endParaRPr b="0" lang="en-AU" sz="1300" spc="-1" strike="noStrike">
              <a:solidFill>
                <a:srgbClr val="000000"/>
              </a:solidFill>
              <a:latin typeface="Arial"/>
            </a:endParaRPr>
          </a:p>
        </p:txBody>
      </p:sp>
      <p:sp>
        <p:nvSpPr>
          <p:cNvPr id="236" name="Text 5"/>
          <p:cNvSpPr/>
          <p:nvPr/>
        </p:nvSpPr>
        <p:spPr>
          <a:xfrm>
            <a:off x="594360" y="1463040"/>
            <a:ext cx="3565800" cy="3108600"/>
          </a:xfrm>
          <a:prstGeom prst="rect">
            <a:avLst/>
          </a:prstGeom>
          <a:noFill/>
          <a:ln w="0">
            <a:noFill/>
          </a:ln>
        </p:spPr>
        <p:style>
          <a:lnRef idx="0"/>
          <a:fillRef idx="0"/>
          <a:effectRef idx="0"/>
          <a:fontRef idx="minor"/>
        </p:style>
        <p:txBody>
          <a:bodyPr lIns="0" rIns="0" tIns="0" bIns="0" anchor="t">
            <a:noAutofit/>
          </a:bodyPr>
          <a:p>
            <a:pPr defTabSz="914400">
              <a:lnSpc>
                <a:spcPct val="125000"/>
              </a:lnSpc>
              <a:tabLst>
                <a:tab algn="l" pos="0"/>
              </a:tabLst>
            </a:pPr>
            <a:r>
              <a:rPr b="0" lang="en-US" sz="1000" spc="-1" strike="noStrike">
                <a:solidFill>
                  <a:srgbClr val="1e293b"/>
                </a:solidFill>
                <a:latin typeface="Calibri"/>
                <a:ea typeface="Calibri"/>
              </a:rPr>
              <a:t>1. Pattern Library Preparation: The miner processes the knowledge base extracting templates scored by support and I-surprisingness.</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2. Runtime Augmentation: As the LLM processes text, each layer projects states to symbolic queries, retrieves relevant templates from MORK, blends symbolic and neural information, and continues with enriched representations.</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3. Stabilization: Weakness penalties and commutativity regularization ensure symbolic additions don't destabilize the pre-trained model.</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This requires minimal modification to existing models while providing substantial benefits in coherence and factual grounding.</a:t>
            </a:r>
            <a:endParaRPr b="0" lang="en-AU" sz="1000" spc="-1" strike="noStrike">
              <a:solidFill>
                <a:srgbClr val="000000"/>
              </a:solidFill>
              <a:latin typeface="Arial"/>
            </a:endParaRPr>
          </a:p>
        </p:txBody>
      </p:sp>
      <p:sp>
        <p:nvSpPr>
          <p:cNvPr id="237" name="Shape 6"/>
          <p:cNvSpPr/>
          <p:nvPr/>
        </p:nvSpPr>
        <p:spPr>
          <a:xfrm>
            <a:off x="4754880" y="1051560"/>
            <a:ext cx="3931560" cy="365724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38" name="Text 7"/>
          <p:cNvSpPr/>
          <p:nvPr/>
        </p:nvSpPr>
        <p:spPr>
          <a:xfrm>
            <a:off x="4937760" y="1097280"/>
            <a:ext cx="35658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0891b2"/>
                </a:solidFill>
                <a:latin typeface="Georgia"/>
                <a:ea typeface="Georgia"/>
              </a:rPr>
              <a:t>Inside: QuantiMORK Integration</a:t>
            </a:r>
            <a:endParaRPr b="0" lang="en-AU" sz="1300" spc="-1" strike="noStrike">
              <a:solidFill>
                <a:srgbClr val="000000"/>
              </a:solidFill>
              <a:latin typeface="Arial"/>
            </a:endParaRPr>
          </a:p>
        </p:txBody>
      </p:sp>
      <p:sp>
        <p:nvSpPr>
          <p:cNvPr id="239" name="Text 8"/>
          <p:cNvSpPr/>
          <p:nvPr/>
        </p:nvSpPr>
        <p:spPr>
          <a:xfrm>
            <a:off x="4937760" y="1463040"/>
            <a:ext cx="3565800" cy="3108600"/>
          </a:xfrm>
          <a:prstGeom prst="rect">
            <a:avLst/>
          </a:prstGeom>
          <a:noFill/>
          <a:ln w="0">
            <a:noFill/>
          </a:ln>
        </p:spPr>
        <p:style>
          <a:lnRef idx="0"/>
          <a:fillRef idx="0"/>
          <a:effectRef idx="0"/>
          <a:fontRef idx="minor"/>
        </p:style>
        <p:txBody>
          <a:bodyPr lIns="0" rIns="0" tIns="0" bIns="0" anchor="t">
            <a:noAutofit/>
          </a:bodyPr>
          <a:p>
            <a:pPr defTabSz="914400">
              <a:lnSpc>
                <a:spcPct val="125000"/>
              </a:lnSpc>
              <a:tabLst>
                <a:tab algn="l" pos="0"/>
              </a:tabLst>
            </a:pPr>
            <a:r>
              <a:rPr b="0" lang="en-US" sz="1000" spc="-1" strike="noStrike">
                <a:solidFill>
                  <a:srgbClr val="1e293b"/>
                </a:solidFill>
                <a:latin typeface="Calibri"/>
                <a:ea typeface="Calibri"/>
              </a:rPr>
              <a:t>1. Initialization: WAS selects active regions by importance. ByteFlow maps these to kernel-friendly layouts.</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2. Computation: Waveformer kernels process the multiresolution representation — intra-scale operations, sparse cross-scale fusion, PC updates flowing locally.</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3. Pattern Integration: WILLIAM identifies emerging patterns becoming new Symbolic Head templates, PLN inference rules, and attention guidance signals.</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4. Orchestration: MeTTa rules coordinate the entire process, deciding where to refine, when to consolidate, and how to balance symbolic and neural contributions.</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Neural and symbolic processing become complementary aspects of a single cognitive process.</a:t>
            </a:r>
            <a:endParaRPr b="0" lang="en-AU" sz="1000" spc="-1" strike="noStrike">
              <a:solidFill>
                <a:srgbClr val="000000"/>
              </a:solidFill>
              <a:latin typeface="Arial"/>
            </a:endParaRPr>
          </a:p>
        </p:txBody>
      </p:sp>
      <p:sp>
        <p:nvSpPr>
          <p:cNvPr id="240" name="Shape 9"/>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241" name="Text 10"/>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32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3d"/>
        </a:solidFill>
      </p:bgPr>
    </p:bg>
    <p:spTree>
      <p:nvGrpSpPr>
        <p:cNvPr id="1" name=""/>
        <p:cNvGrpSpPr/>
        <p:nvPr/>
      </p:nvGrpSpPr>
      <p:grpSpPr>
        <a:xfrm>
          <a:off x="0" y="0"/>
          <a:ext cx="0" cy="0"/>
          <a:chOff x="0" y="0"/>
          <a:chExt cx="0" cy="0"/>
        </a:xfrm>
      </p:grpSpPr>
      <p:sp>
        <p:nvSpPr>
          <p:cNvPr id="242" name="Shape 0"/>
          <p:cNvSpPr/>
          <p:nvPr/>
        </p:nvSpPr>
        <p:spPr>
          <a:xfrm>
            <a:off x="0" y="0"/>
            <a:ext cx="9143640" cy="54360"/>
          </a:xfrm>
          <a:prstGeom prst="rect">
            <a:avLst/>
          </a:prstGeom>
          <a:solidFill>
            <a:srgbClr val="22d3ee"/>
          </a:solidFill>
          <a:ln w="0">
            <a:noFill/>
          </a:ln>
        </p:spPr>
        <p:style>
          <a:lnRef idx="0"/>
          <a:fillRef idx="0"/>
          <a:effectRef idx="0"/>
          <a:fontRef idx="minor"/>
        </p:style>
        <p:txBody>
          <a:bodyPr lIns="90000" rIns="90000" tIns="9720" bIns="9720" anchor="t">
            <a:noAutofit/>
          </a:bodyPr>
          <a:p>
            <a:endParaRPr b="0" lang="en-AU" sz="1800" spc="-1" strike="noStrike">
              <a:solidFill>
                <a:srgbClr val="000000"/>
              </a:solidFill>
              <a:latin typeface="Arial"/>
            </a:endParaRPr>
          </a:p>
        </p:txBody>
      </p:sp>
      <p:sp>
        <p:nvSpPr>
          <p:cNvPr id="243" name="Text 1"/>
          <p:cNvSpPr/>
          <p:nvPr/>
        </p:nvSpPr>
        <p:spPr>
          <a:xfrm>
            <a:off x="731520" y="914400"/>
            <a:ext cx="1828440" cy="1462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0" spc="-1" strike="noStrike">
                <a:solidFill>
                  <a:srgbClr val="0891b2"/>
                </a:solidFill>
                <a:latin typeface="Georgia"/>
                <a:ea typeface="Georgia"/>
              </a:rPr>
              <a:t>07</a:t>
            </a:r>
            <a:endParaRPr b="0" lang="en-AU" sz="7200" spc="-1" strike="noStrike">
              <a:solidFill>
                <a:srgbClr val="ffffff"/>
              </a:solidFill>
              <a:latin typeface="Arial"/>
            </a:endParaRPr>
          </a:p>
        </p:txBody>
      </p:sp>
      <p:sp>
        <p:nvSpPr>
          <p:cNvPr id="244" name="Text 2"/>
          <p:cNvSpPr/>
          <p:nvPr/>
        </p:nvSpPr>
        <p:spPr>
          <a:xfrm>
            <a:off x="731520" y="2377440"/>
            <a:ext cx="768060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ffffff"/>
                </a:solidFill>
                <a:latin typeface="Georgia"/>
                <a:ea typeface="Georgia"/>
              </a:rPr>
              <a:t>AGI → ASI Transition</a:t>
            </a:r>
            <a:endParaRPr b="0" lang="en-AU" sz="3200" spc="-1" strike="noStrike">
              <a:solidFill>
                <a:srgbClr val="ffffff"/>
              </a:solidFill>
              <a:latin typeface="Arial"/>
            </a:endParaRPr>
          </a:p>
        </p:txBody>
      </p:sp>
      <p:sp>
        <p:nvSpPr>
          <p:cNvPr id="245" name="Text 3"/>
          <p:cNvSpPr/>
          <p:nvPr/>
        </p:nvSpPr>
        <p:spPr>
          <a:xfrm>
            <a:off x="731520" y="3154680"/>
            <a:ext cx="7314840" cy="1096920"/>
          </a:xfrm>
          <a:prstGeom prst="rect">
            <a:avLst/>
          </a:prstGeom>
          <a:noFill/>
          <a:ln w="0">
            <a:noFill/>
          </a:ln>
        </p:spPr>
        <p:style>
          <a:lnRef idx="0"/>
          <a:fillRef idx="0"/>
          <a:effectRef idx="0"/>
          <a:fontRef idx="minor"/>
        </p:style>
        <p:txBody>
          <a:bodyPr lIns="0" rIns="0" tIns="0" bIns="0" anchor="t">
            <a:noAutofit/>
          </a:bodyPr>
          <a:p>
            <a:pPr defTabSz="914400">
              <a:lnSpc>
                <a:spcPct val="135000"/>
              </a:lnSpc>
              <a:tabLst>
                <a:tab algn="l" pos="0"/>
              </a:tabLst>
            </a:pPr>
            <a:r>
              <a:rPr b="0" lang="en-US" sz="1400" spc="-1" strike="noStrike">
                <a:solidFill>
                  <a:srgbClr val="e0f2fe"/>
                </a:solidFill>
                <a:latin typeface="Calibri"/>
                <a:ea typeface="Calibri"/>
              </a:rPr>
              <a:t>Goal stability under self-modification, shared algebraic controls, the self-modification pipeline, safety through transparency, and decentralized governance — engineering the path from AGI to beneficial superintelligence.</a:t>
            </a:r>
            <a:endParaRPr b="0" lang="en-AU" sz="1400" spc="-1" strike="noStrike">
              <a:solidFill>
                <a:srgbClr val="ffffff"/>
              </a:solidFill>
              <a:latin typeface="Arial"/>
            </a:endParaRPr>
          </a:p>
        </p:txBody>
      </p:sp>
      <p:sp>
        <p:nvSpPr>
          <p:cNvPr id="246" name="Shape 4"/>
          <p:cNvSpPr/>
          <p:nvPr/>
        </p:nvSpPr>
        <p:spPr>
          <a:xfrm>
            <a:off x="0" y="4892040"/>
            <a:ext cx="9143640" cy="251280"/>
          </a:xfrm>
          <a:prstGeom prst="rect">
            <a:avLst/>
          </a:prstGeom>
          <a:solidFill>
            <a:srgbClr val="0a1128"/>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247"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4748b"/>
                </a:solidFill>
                <a:latin typeface="Calibri"/>
                <a:ea typeface="Calibri"/>
              </a:rPr>
              <a:t>33 / 40</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48"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249" name="Image 0" descr="preencoded.png"/>
          <p:cNvPicPr/>
          <p:nvPr/>
        </p:nvPicPr>
        <p:blipFill>
          <a:blip r:embed="rId1"/>
          <a:stretch/>
        </p:blipFill>
        <p:spPr>
          <a:xfrm>
            <a:off x="411480" y="274320"/>
            <a:ext cx="383760" cy="383760"/>
          </a:xfrm>
          <a:prstGeom prst="rect">
            <a:avLst/>
          </a:prstGeom>
          <a:ln w="0">
            <a:noFill/>
          </a:ln>
        </p:spPr>
      </p:pic>
      <p:sp>
        <p:nvSpPr>
          <p:cNvPr id="250"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Goal Stability as a Tractable Math Problem</a:t>
            </a:r>
            <a:endParaRPr b="0" lang="en-AU" sz="2400" spc="-1" strike="noStrike">
              <a:solidFill>
                <a:srgbClr val="000000"/>
              </a:solidFill>
              <a:latin typeface="Arial"/>
            </a:endParaRPr>
          </a:p>
        </p:txBody>
      </p:sp>
      <p:sp>
        <p:nvSpPr>
          <p:cNvPr id="251"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252"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Goals aren't monolithic — they are layered structures where higher levels constrain how lower levels can evolve. Just as humans have immediate goals, persistent objectives, core values, and meta-values about how values should change, an AGI needs the same hierarchical structure. Each level acts as an invariant constraining acceptable changes to the level below.</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This is formalized through invariant hierarchies. Goals become a family I = {I₁, I₂, ...} where each Iₖ constrains how Iₖ₋₁ can evolve. Self-modification becomes an operator T acting on the pair (mechanism, invariants). We seek fixed points or stable attractors where T(mech, I) ≈ (mech', I') with I' within acceptable bounds of I.</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Two types of mathematical guarantees emerge. Strong stability appears when T is contractive in an appropriate metric — the Banach fixed-point theorem then guarantees a unique stable configuration. This occurs when self-modification intentionally follows a core set of principles. Weak stability applies when we have continuity but not contraction — Schauder-type theorems guarantee stable points exist (though not uniquely), requiring monitoring and drift budgets.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Two global regulators maintain consistency: geodesic effort ensures all processes follow minimum-effort paths balancing forward progress with backward pull, creating natural efficiency. Weakness-based simplicity provides universal preference for simpler solutions — quantifying 'failure to distinguish' and creating consistent pressure toward robust solutions.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If these principles militate toward moderated and beneficial goal evolution, this permeates all algorithms and structures. Seeking the simplest possible goal representations and following shortest paths toward futures where goals are substantially realized gives PRIMUS systems a stronger chance of maintaining ethical behaviors even as they self-modify. Increased capability doesn't mean decreased predictability.</a:t>
            </a:r>
            <a:endParaRPr b="0" lang="en-AU" sz="1050" spc="-1" strike="noStrike">
              <a:solidFill>
                <a:srgbClr val="000000"/>
              </a:solidFill>
              <a:latin typeface="Arial"/>
            </a:endParaRPr>
          </a:p>
        </p:txBody>
      </p:sp>
      <p:sp>
        <p:nvSpPr>
          <p:cNvPr id="253"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254"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34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55"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256" name="Image 0" descr="preencoded.png"/>
          <p:cNvPicPr/>
          <p:nvPr/>
        </p:nvPicPr>
        <p:blipFill>
          <a:blip r:embed="rId1"/>
          <a:stretch/>
        </p:blipFill>
        <p:spPr>
          <a:xfrm>
            <a:off x="411480" y="274320"/>
            <a:ext cx="383760" cy="383760"/>
          </a:xfrm>
          <a:prstGeom prst="rect">
            <a:avLst/>
          </a:prstGeom>
          <a:ln w="0">
            <a:noFill/>
          </a:ln>
        </p:spPr>
      </p:pic>
      <p:sp>
        <p:nvSpPr>
          <p:cNvPr id="257"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The Self-Modification Pipeline</a:t>
            </a:r>
            <a:endParaRPr b="0" lang="en-AU" sz="2400" spc="-1" strike="noStrike">
              <a:solidFill>
                <a:srgbClr val="000000"/>
              </a:solidFill>
              <a:latin typeface="Arial"/>
            </a:endParaRPr>
          </a:p>
        </p:txBody>
      </p:sp>
      <p:sp>
        <p:nvSpPr>
          <p:cNvPr id="258"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259"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Self-improvement isn't about making quick fixes and hoping for the best. Hyperon implements a rigorous five-stage pipeline treating each modification as a formal experiment:</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1. Proposal — Generate a candidate change (new algorithm, data structure, or module), formalized as a typed metamorphism with pre/post-conditions, promised improvements, and expected changes in weakness metrics.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2. Analysis — Examine theoretical impact through type checking and dependency analysis. Build an influence graph showing affected components. Check lens laws ensuring updates compose properly. Validate preservation of essential structural properties.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3. Simulation — Create a controlled copy (digital twin) of relevant system components. Using Weighted Atom Sweeps to select representative regions, replay realistic workloads while measuring value function divergence, weakness trajectory, commutativity penalties, and evidence conservation.</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4. Certification — Verify that invariant levels remain within prescribed bands. Behavioral drift must stay below threshold. Weakness must improve or remain neutral. Evidence flow must maintain conservation properties. The system produces a formal admission certificate documenting what transfers successfully, what must be relearned, and what monitoring is required.</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5. Deployment — Stage rollout with RSpace/Rholang executors under capability-based security. Changes initially run in shadow mode alongside the original, graduate to dual-run with comparison, then elevate to primary when metrics stabilize. All artifacts are content-addressed for complete audit trails. ShardZipper's Merkle-based structure enables instant rollback to any previous state.</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This unified approach means the same mathematics governing routine cognition governs self-modification — improvements are improvements in the fullest sense.</a:t>
            </a:r>
            <a:endParaRPr b="0" lang="en-AU" sz="1050" spc="-1" strike="noStrike">
              <a:solidFill>
                <a:srgbClr val="000000"/>
              </a:solidFill>
              <a:latin typeface="Arial"/>
            </a:endParaRPr>
          </a:p>
        </p:txBody>
      </p:sp>
      <p:sp>
        <p:nvSpPr>
          <p:cNvPr id="260"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261"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35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62"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263" name="Image 0" descr="preencoded.png"/>
          <p:cNvPicPr/>
          <p:nvPr/>
        </p:nvPicPr>
        <p:blipFill>
          <a:blip r:embed="rId1"/>
          <a:stretch/>
        </p:blipFill>
        <p:spPr>
          <a:xfrm>
            <a:off x="411480" y="274320"/>
            <a:ext cx="383760" cy="383760"/>
          </a:xfrm>
          <a:prstGeom prst="rect">
            <a:avLst/>
          </a:prstGeom>
          <a:ln w="0">
            <a:noFill/>
          </a:ln>
        </p:spPr>
      </p:pic>
      <p:sp>
        <p:nvSpPr>
          <p:cNvPr id="264"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Decentralized Governance and Safety</a:t>
            </a:r>
            <a:endParaRPr b="0" lang="en-AU" sz="2400" spc="-1" strike="noStrike">
              <a:solidFill>
                <a:srgbClr val="000000"/>
              </a:solidFill>
              <a:latin typeface="Arial"/>
            </a:endParaRPr>
          </a:p>
        </p:txBody>
      </p:sp>
      <p:sp>
        <p:nvSpPr>
          <p:cNvPr id="265"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266" name="Text 3"/>
          <p:cNvSpPr/>
          <p:nvPr/>
        </p:nvSpPr>
        <p:spPr>
          <a:xfrm>
            <a:off x="457200" y="960120"/>
            <a:ext cx="8229240" cy="3840120"/>
          </a:xfrm>
          <a:prstGeom prst="rect">
            <a:avLst/>
          </a:prstGeom>
          <a:noFill/>
          <a:ln w="0">
            <a:noFill/>
          </a:ln>
        </p:spPr>
        <p:style>
          <a:lnRef idx="0"/>
          <a:fillRef idx="0"/>
          <a:effectRef idx="0"/>
          <a:fontRef idx="minor"/>
        </p:style>
        <p:txBody>
          <a:bodyPr lIns="0" rIns="0" tIns="0" bIns="0" anchor="t">
            <a:noAutofit/>
          </a:bodyPr>
          <a:p>
            <a:pPr defTabSz="914400">
              <a:lnSpc>
                <a:spcPct val="130000"/>
              </a:lnSpc>
              <a:tabLst>
                <a:tab algn="l" pos="0"/>
              </a:tabLst>
            </a:pPr>
            <a:r>
              <a:rPr b="0" lang="en-US" sz="1050" spc="-1" strike="noStrike">
                <a:solidFill>
                  <a:srgbClr val="1e293b"/>
                </a:solidFill>
                <a:latin typeface="Calibri"/>
                <a:ea typeface="Calibri"/>
              </a:rPr>
              <a:t>When a small group controls an AI system, incentives inevitably skew away from public benefit. A truly beneficial AGI needs plural, verifiable runtime infrastructure where communities can run, inspect, and contribute to the same cognitive stack without single points of control.</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Hyperon achieves decentralization through interlocking mechanisms. Content-addressed everything: knowledge, models, proof steps, motives, edits, and certificates all become CID-addressed objects with Merkle proofs. The question 'what changed and why?' always has a cryptographically verifiable answer.</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Capability security (ocaps): MeTTa-IL bundles compile to Rholang processes running under RSpace with least-privilege capabilities. Each process specifies exactly which Spaces, prefixes, kernel classes, and write operations it's permitted.</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FireNode/F1R3FLY executors: Nodes execute IL bundles and post proof-of-execution summaries to ASI-Chain, creating an immutable audit trail. Shadow-to-elevate deployments and one-click rollback are protocol-level features, not ad-hoc operations.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Plural governance hooks: DAOs or cooperatives can require prior publication of certificates and KPIs before upgrades. Community validators can simulate bundles against public twins. Slashing-like penalties or reputation gating discourage unsafe rollouts through economic incentives.</a:t>
            </a:r>
            <a:endParaRPr b="0" lang="en-AU" sz="1050" spc="-1" strike="noStrike">
              <a:solidFill>
                <a:srgbClr val="000000"/>
              </a:solidFill>
              <a:latin typeface="Arial"/>
            </a:endParaRPr>
          </a:p>
          <a:p>
            <a:pPr defTabSz="914400">
              <a:lnSpc>
                <a:spcPct val="130000"/>
              </a:lnSpc>
              <a:tabLst>
                <a:tab algn="l" pos="0"/>
              </a:tabLst>
            </a:pPr>
            <a:endParaRPr b="0" lang="en-AU" sz="1050" spc="-1" strike="noStrike">
              <a:solidFill>
                <a:srgbClr val="000000"/>
              </a:solidFill>
              <a:latin typeface="Arial"/>
            </a:endParaRPr>
          </a:p>
          <a:p>
            <a:pPr defTabSz="914400">
              <a:lnSpc>
                <a:spcPct val="130000"/>
              </a:lnSpc>
              <a:tabLst>
                <a:tab algn="l" pos="0"/>
              </a:tabLst>
            </a:pPr>
            <a:r>
              <a:rPr b="0" lang="en-US" sz="1050" spc="-1" strike="noStrike">
                <a:solidFill>
                  <a:srgbClr val="1e293b"/>
                </a:solidFill>
                <a:latin typeface="Calibri"/>
                <a:ea typeface="Calibri"/>
              </a:rPr>
              <a:t>Safety documentation travels with every component: type interfaces specify behavioral contracts, SubRep certificates validate options serve declared goals, TransWeave certificates document transfer results, and drift budgets establish tolerance bands with supermartingale potentials triggering automatic rollback. This creates market pressure for beneficial behavior rather than just raw capability.</a:t>
            </a:r>
            <a:endParaRPr b="0" lang="en-AU" sz="1050" spc="-1" strike="noStrike">
              <a:solidFill>
                <a:srgbClr val="000000"/>
              </a:solidFill>
              <a:latin typeface="Arial"/>
            </a:endParaRPr>
          </a:p>
        </p:txBody>
      </p:sp>
      <p:sp>
        <p:nvSpPr>
          <p:cNvPr id="267" name="Shape 4"/>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268"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36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b3d"/>
        </a:solidFill>
      </p:bgPr>
    </p:bg>
    <p:spTree>
      <p:nvGrpSpPr>
        <p:cNvPr id="1" name=""/>
        <p:cNvGrpSpPr/>
        <p:nvPr/>
      </p:nvGrpSpPr>
      <p:grpSpPr>
        <a:xfrm>
          <a:off x="0" y="0"/>
          <a:ext cx="0" cy="0"/>
          <a:chOff x="0" y="0"/>
          <a:chExt cx="0" cy="0"/>
        </a:xfrm>
      </p:grpSpPr>
      <p:sp>
        <p:nvSpPr>
          <p:cNvPr id="269" name="Shape 0"/>
          <p:cNvSpPr/>
          <p:nvPr/>
        </p:nvSpPr>
        <p:spPr>
          <a:xfrm>
            <a:off x="0" y="0"/>
            <a:ext cx="9143640" cy="54360"/>
          </a:xfrm>
          <a:prstGeom prst="rect">
            <a:avLst/>
          </a:prstGeom>
          <a:solidFill>
            <a:srgbClr val="22d3ee"/>
          </a:solidFill>
          <a:ln w="0">
            <a:noFill/>
          </a:ln>
        </p:spPr>
        <p:style>
          <a:lnRef idx="0"/>
          <a:fillRef idx="0"/>
          <a:effectRef idx="0"/>
          <a:fontRef idx="minor"/>
        </p:style>
        <p:txBody>
          <a:bodyPr lIns="90000" rIns="90000" tIns="9720" bIns="9720" anchor="t">
            <a:noAutofit/>
          </a:bodyPr>
          <a:p>
            <a:endParaRPr b="0" lang="en-AU" sz="1800" spc="-1" strike="noStrike">
              <a:solidFill>
                <a:srgbClr val="000000"/>
              </a:solidFill>
              <a:latin typeface="Arial"/>
            </a:endParaRPr>
          </a:p>
        </p:txBody>
      </p:sp>
      <p:sp>
        <p:nvSpPr>
          <p:cNvPr id="270" name="Text 1"/>
          <p:cNvSpPr/>
          <p:nvPr/>
        </p:nvSpPr>
        <p:spPr>
          <a:xfrm>
            <a:off x="731520" y="914400"/>
            <a:ext cx="1828440" cy="1462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7200" spc="-1" strike="noStrike">
                <a:solidFill>
                  <a:srgbClr val="0891b2"/>
                </a:solidFill>
                <a:latin typeface="Georgia"/>
                <a:ea typeface="Georgia"/>
              </a:rPr>
              <a:t>08</a:t>
            </a:r>
            <a:endParaRPr b="0" lang="en-AU" sz="7200" spc="-1" strike="noStrike">
              <a:solidFill>
                <a:srgbClr val="ffffff"/>
              </a:solidFill>
              <a:latin typeface="Arial"/>
            </a:endParaRPr>
          </a:p>
        </p:txBody>
      </p:sp>
      <p:sp>
        <p:nvSpPr>
          <p:cNvPr id="271" name="Text 2"/>
          <p:cNvSpPr/>
          <p:nvPr/>
        </p:nvSpPr>
        <p:spPr>
          <a:xfrm>
            <a:off x="731520" y="2377440"/>
            <a:ext cx="768060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ffffff"/>
                </a:solidFill>
                <a:latin typeface="Georgia"/>
                <a:ea typeface="Georgia"/>
              </a:rPr>
              <a:t>Application Domains</a:t>
            </a:r>
            <a:endParaRPr b="0" lang="en-AU" sz="3200" spc="-1" strike="noStrike">
              <a:solidFill>
                <a:srgbClr val="ffffff"/>
              </a:solidFill>
              <a:latin typeface="Arial"/>
            </a:endParaRPr>
          </a:p>
        </p:txBody>
      </p:sp>
      <p:sp>
        <p:nvSpPr>
          <p:cNvPr id="272" name="Text 3"/>
          <p:cNvSpPr/>
          <p:nvPr/>
        </p:nvSpPr>
        <p:spPr>
          <a:xfrm>
            <a:off x="731520" y="3154680"/>
            <a:ext cx="7314840" cy="1096920"/>
          </a:xfrm>
          <a:prstGeom prst="rect">
            <a:avLst/>
          </a:prstGeom>
          <a:noFill/>
          <a:ln w="0">
            <a:noFill/>
          </a:ln>
        </p:spPr>
        <p:style>
          <a:lnRef idx="0"/>
          <a:fillRef idx="0"/>
          <a:effectRef idx="0"/>
          <a:fontRef idx="minor"/>
        </p:style>
        <p:txBody>
          <a:bodyPr lIns="0" rIns="0" tIns="0" bIns="0" anchor="t">
            <a:noAutofit/>
          </a:bodyPr>
          <a:p>
            <a:pPr defTabSz="914400">
              <a:lnSpc>
                <a:spcPct val="135000"/>
              </a:lnSpc>
              <a:tabLst>
                <a:tab algn="l" pos="0"/>
              </a:tabLst>
            </a:pPr>
            <a:r>
              <a:rPr b="0" lang="en-US" sz="1400" spc="-1" strike="noStrike">
                <a:solidFill>
                  <a:srgbClr val="e0f2fe"/>
                </a:solidFill>
                <a:latin typeface="Calibri"/>
                <a:ea typeface="Calibri"/>
              </a:rPr>
              <a:t>Game AI, humanoid social robotics, bioinformatics, and mathematical theorem proving — diverse pilots sharing one unified Hyperon+PRIMUS substrate, where advances in one domain benefit all others simultaneously.</a:t>
            </a:r>
            <a:endParaRPr b="0" lang="en-AU" sz="1400" spc="-1" strike="noStrike">
              <a:solidFill>
                <a:srgbClr val="ffffff"/>
              </a:solidFill>
              <a:latin typeface="Arial"/>
            </a:endParaRPr>
          </a:p>
        </p:txBody>
      </p:sp>
      <p:sp>
        <p:nvSpPr>
          <p:cNvPr id="273" name="Shape 4"/>
          <p:cNvSpPr/>
          <p:nvPr/>
        </p:nvSpPr>
        <p:spPr>
          <a:xfrm>
            <a:off x="0" y="4892040"/>
            <a:ext cx="9143640" cy="251280"/>
          </a:xfrm>
          <a:prstGeom prst="rect">
            <a:avLst/>
          </a:prstGeom>
          <a:solidFill>
            <a:srgbClr val="0a1128"/>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274" name="Text 5"/>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64748b"/>
                </a:solidFill>
                <a:latin typeface="Calibri"/>
                <a:ea typeface="Calibri"/>
              </a:rPr>
              <a:t>37 / 40</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75"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276" name="Image 0" descr="preencoded.png"/>
          <p:cNvPicPr/>
          <p:nvPr/>
        </p:nvPicPr>
        <p:blipFill>
          <a:blip r:embed="rId1"/>
          <a:stretch/>
        </p:blipFill>
        <p:spPr>
          <a:xfrm>
            <a:off x="411480" y="274320"/>
            <a:ext cx="383760" cy="383760"/>
          </a:xfrm>
          <a:prstGeom prst="rect">
            <a:avLst/>
          </a:prstGeom>
          <a:ln w="0">
            <a:noFill/>
          </a:ln>
        </p:spPr>
      </p:pic>
      <p:sp>
        <p:nvSpPr>
          <p:cNvPr id="277"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Pilot Applications: Games &amp; Social Robotics</a:t>
            </a:r>
            <a:endParaRPr b="0" lang="en-AU" sz="2400" spc="-1" strike="noStrike">
              <a:solidFill>
                <a:srgbClr val="000000"/>
              </a:solidFill>
              <a:latin typeface="Arial"/>
            </a:endParaRPr>
          </a:p>
        </p:txBody>
      </p:sp>
      <p:sp>
        <p:nvSpPr>
          <p:cNvPr id="278"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279" name="Shape 3"/>
          <p:cNvSpPr/>
          <p:nvPr/>
        </p:nvSpPr>
        <p:spPr>
          <a:xfrm>
            <a:off x="411480" y="1051560"/>
            <a:ext cx="3931560" cy="365724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80" name="Text 4"/>
          <p:cNvSpPr/>
          <p:nvPr/>
        </p:nvSpPr>
        <p:spPr>
          <a:xfrm>
            <a:off x="594360" y="1097280"/>
            <a:ext cx="35658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0891b2"/>
                </a:solidFill>
                <a:latin typeface="Georgia"/>
                <a:ea typeface="Georgia"/>
              </a:rPr>
              <a:t>Game AI: Minecraft to Sophiaverse</a:t>
            </a:r>
            <a:endParaRPr b="0" lang="en-AU" sz="1300" spc="-1" strike="noStrike">
              <a:solidFill>
                <a:srgbClr val="000000"/>
              </a:solidFill>
              <a:latin typeface="Arial"/>
            </a:endParaRPr>
          </a:p>
        </p:txBody>
      </p:sp>
      <p:sp>
        <p:nvSpPr>
          <p:cNvPr id="281" name="Text 5"/>
          <p:cNvSpPr/>
          <p:nvPr/>
        </p:nvSpPr>
        <p:spPr>
          <a:xfrm>
            <a:off x="594360" y="1463040"/>
            <a:ext cx="3565800" cy="3108600"/>
          </a:xfrm>
          <a:prstGeom prst="rect">
            <a:avLst/>
          </a:prstGeom>
          <a:noFill/>
          <a:ln w="0">
            <a:noFill/>
          </a:ln>
        </p:spPr>
        <p:style>
          <a:lnRef idx="0"/>
          <a:fillRef idx="0"/>
          <a:effectRef idx="0"/>
          <a:fontRef idx="minor"/>
        </p:style>
        <p:txBody>
          <a:bodyPr lIns="0" rIns="0" tIns="0" bIns="0" anchor="t">
            <a:noAutofit/>
          </a:bodyPr>
          <a:p>
            <a:pPr defTabSz="914400">
              <a:lnSpc>
                <a:spcPct val="125000"/>
              </a:lnSpc>
              <a:tabLst>
                <a:tab algn="l" pos="0"/>
              </a:tabLst>
            </a:pPr>
            <a:r>
              <a:rPr b="0" lang="en-US" sz="1000" spc="-1" strike="noStrike">
                <a:solidFill>
                  <a:srgbClr val="1e293b"/>
                </a:solidFill>
                <a:latin typeface="Calibri"/>
                <a:ea typeface="Calibri"/>
              </a:rPr>
              <a:t>Games provide ideal sandboxes for testing perception, planning, tool use, dialogue, and social norms with rapid iteration. Minecraft offers structured yet open worlds for integrating SubRep options with GEO-EVO edits. Sophiaverse adds persistent identity, social contracts, and economic systems. The Neoterics micro-world provides deliberately constrained but richly instrumented space for baby-AGI development.</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World state mirrors into Atomspace as typed Atoms. Action affordances appear as SubRep-certified options. External LLMs handle narration while Symbolic Heads retrieve mined templates. PLN factor-graphs encode multi-step plans. TransWeave carries successful options between game worlds when matches are strong.</a:t>
            </a:r>
            <a:endParaRPr b="0" lang="en-AU" sz="1000" spc="-1" strike="noStrike">
              <a:solidFill>
                <a:srgbClr val="000000"/>
              </a:solidFill>
              <a:latin typeface="Arial"/>
            </a:endParaRPr>
          </a:p>
        </p:txBody>
      </p:sp>
      <p:sp>
        <p:nvSpPr>
          <p:cNvPr id="282" name="Shape 6"/>
          <p:cNvSpPr/>
          <p:nvPr/>
        </p:nvSpPr>
        <p:spPr>
          <a:xfrm>
            <a:off x="4754880" y="1051560"/>
            <a:ext cx="3931560" cy="365724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83" name="Text 7"/>
          <p:cNvSpPr/>
          <p:nvPr/>
        </p:nvSpPr>
        <p:spPr>
          <a:xfrm>
            <a:off x="4937760" y="1097280"/>
            <a:ext cx="35658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0891b2"/>
                </a:solidFill>
                <a:latin typeface="Georgia"/>
                <a:ea typeface="Georgia"/>
              </a:rPr>
              <a:t>Humanoid Social Robotics</a:t>
            </a:r>
            <a:endParaRPr b="0" lang="en-AU" sz="1300" spc="-1" strike="noStrike">
              <a:solidFill>
                <a:srgbClr val="000000"/>
              </a:solidFill>
              <a:latin typeface="Arial"/>
            </a:endParaRPr>
          </a:p>
        </p:txBody>
      </p:sp>
      <p:sp>
        <p:nvSpPr>
          <p:cNvPr id="284" name="Text 8"/>
          <p:cNvSpPr/>
          <p:nvPr/>
        </p:nvSpPr>
        <p:spPr>
          <a:xfrm>
            <a:off x="4937760" y="1463040"/>
            <a:ext cx="3565800" cy="3108600"/>
          </a:xfrm>
          <a:prstGeom prst="rect">
            <a:avLst/>
          </a:prstGeom>
          <a:noFill/>
          <a:ln w="0">
            <a:noFill/>
          </a:ln>
        </p:spPr>
        <p:style>
          <a:lnRef idx="0"/>
          <a:fillRef idx="0"/>
          <a:effectRef idx="0"/>
          <a:fontRef idx="minor"/>
        </p:style>
        <p:txBody>
          <a:bodyPr lIns="0" rIns="0" tIns="0" bIns="0" anchor="t">
            <a:noAutofit/>
          </a:bodyPr>
          <a:p>
            <a:pPr defTabSz="914400">
              <a:lnSpc>
                <a:spcPct val="125000"/>
              </a:lnSpc>
              <a:tabLst>
                <a:tab algn="l" pos="0"/>
              </a:tabLst>
            </a:pPr>
            <a:r>
              <a:rPr b="0" lang="en-US" sz="1000" spc="-1" strike="noStrike">
                <a:solidFill>
                  <a:srgbClr val="1e293b"/>
                </a:solidFill>
                <a:latin typeface="Calibri"/>
                <a:ea typeface="Calibri"/>
              </a:rPr>
              <a:t>Partnerships with Mind Children (education robots) and Hanson Robotics (Sophia, Desdemona) stress-test PRIMUS in real-time social interaction. Robots must combine perception, dialogue, motor control, and social norms seamlessly.</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Perception uses progressively embedded PC layers via QuantiMORK for latency-critical paths. Pattern Miner discovers conversational templates. MetaMo budgets exploration vs. de-escalation, throttling novelty when emotional risk is high. SubRep options carry etiquette and safety certificates.</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Meta-Goal Stability tracks drift in social norms and persona. Every interaction is auditable — what was said, why, and how the choice was made.</a:t>
            </a:r>
            <a:endParaRPr b="0" lang="en-AU" sz="1000" spc="-1" strike="noStrike">
              <a:solidFill>
                <a:srgbClr val="000000"/>
              </a:solidFill>
              <a:latin typeface="Arial"/>
            </a:endParaRPr>
          </a:p>
        </p:txBody>
      </p:sp>
      <p:sp>
        <p:nvSpPr>
          <p:cNvPr id="285" name="Shape 9"/>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286" name="Text 10"/>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38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87" name="Shape 0"/>
          <p:cNvSpPr/>
          <p:nvPr/>
        </p:nvSpPr>
        <p:spPr>
          <a:xfrm>
            <a:off x="0" y="0"/>
            <a:ext cx="72720" cy="5143320"/>
          </a:xfrm>
          <a:prstGeom prst="rect">
            <a:avLst/>
          </a:prstGeom>
          <a:solidFill>
            <a:srgbClr val="0891b2"/>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pic>
        <p:nvPicPr>
          <p:cNvPr id="288" name="Image 0" descr="preencoded.png"/>
          <p:cNvPicPr/>
          <p:nvPr/>
        </p:nvPicPr>
        <p:blipFill>
          <a:blip r:embed="rId1"/>
          <a:stretch/>
        </p:blipFill>
        <p:spPr>
          <a:xfrm>
            <a:off x="411480" y="274320"/>
            <a:ext cx="383760" cy="383760"/>
          </a:xfrm>
          <a:prstGeom prst="rect">
            <a:avLst/>
          </a:prstGeom>
          <a:ln w="0">
            <a:noFill/>
          </a:ln>
        </p:spPr>
      </p:pic>
      <p:sp>
        <p:nvSpPr>
          <p:cNvPr id="289" name="Text 1"/>
          <p:cNvSpPr/>
          <p:nvPr/>
        </p:nvSpPr>
        <p:spPr>
          <a:xfrm>
            <a:off x="914400" y="228600"/>
            <a:ext cx="77720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400" spc="-1" strike="noStrike">
                <a:solidFill>
                  <a:srgbClr val="0a1128"/>
                </a:solidFill>
                <a:latin typeface="Georgia"/>
                <a:ea typeface="Georgia"/>
              </a:rPr>
              <a:t>Pilot Applications: Bio &amp; Mathematics</a:t>
            </a:r>
            <a:endParaRPr b="0" lang="en-AU" sz="2400" spc="-1" strike="noStrike">
              <a:solidFill>
                <a:srgbClr val="000000"/>
              </a:solidFill>
              <a:latin typeface="Arial"/>
            </a:endParaRPr>
          </a:p>
        </p:txBody>
      </p:sp>
      <p:sp>
        <p:nvSpPr>
          <p:cNvPr id="290" name="Shape 2"/>
          <p:cNvSpPr/>
          <p:nvPr/>
        </p:nvSpPr>
        <p:spPr>
          <a:xfrm>
            <a:off x="411480" y="822960"/>
            <a:ext cx="8320680" cy="18000"/>
          </a:xfrm>
          <a:prstGeom prst="rect">
            <a:avLst/>
          </a:prstGeom>
          <a:solidFill>
            <a:srgbClr val="0891b2"/>
          </a:solidFill>
          <a:ln w="0">
            <a:noFill/>
          </a:ln>
        </p:spPr>
        <p:style>
          <a:lnRef idx="0"/>
          <a:fillRef idx="0"/>
          <a:effectRef idx="0"/>
          <a:fontRef idx="minor"/>
        </p:style>
        <p:txBody>
          <a:bodyPr lIns="90000" rIns="90000" tIns="-26640" bIns="-26640" anchor="t">
            <a:noAutofit/>
          </a:bodyPr>
          <a:p>
            <a:endParaRPr b="0" lang="en-AU" sz="1800" spc="-1" strike="noStrike">
              <a:solidFill>
                <a:srgbClr val="ffffff"/>
              </a:solidFill>
              <a:latin typeface="Arial"/>
            </a:endParaRPr>
          </a:p>
        </p:txBody>
      </p:sp>
      <p:sp>
        <p:nvSpPr>
          <p:cNvPr id="291" name="Shape 3"/>
          <p:cNvSpPr/>
          <p:nvPr/>
        </p:nvSpPr>
        <p:spPr>
          <a:xfrm>
            <a:off x="411480" y="1051560"/>
            <a:ext cx="3931560" cy="365724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92" name="Text 4"/>
          <p:cNvSpPr/>
          <p:nvPr/>
        </p:nvSpPr>
        <p:spPr>
          <a:xfrm>
            <a:off x="594360" y="1097280"/>
            <a:ext cx="35658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0891b2"/>
                </a:solidFill>
                <a:latin typeface="Georgia"/>
                <a:ea typeface="Georgia"/>
              </a:rPr>
              <a:t>Bioinformatics: Graph-Based Discovery</a:t>
            </a:r>
            <a:endParaRPr b="0" lang="en-AU" sz="1300" spc="-1" strike="noStrike">
              <a:solidFill>
                <a:srgbClr val="000000"/>
              </a:solidFill>
              <a:latin typeface="Arial"/>
            </a:endParaRPr>
          </a:p>
        </p:txBody>
      </p:sp>
      <p:sp>
        <p:nvSpPr>
          <p:cNvPr id="293" name="Text 5"/>
          <p:cNvSpPr/>
          <p:nvPr/>
        </p:nvSpPr>
        <p:spPr>
          <a:xfrm>
            <a:off x="594360" y="1463040"/>
            <a:ext cx="3565800" cy="3108600"/>
          </a:xfrm>
          <a:prstGeom prst="rect">
            <a:avLst/>
          </a:prstGeom>
          <a:noFill/>
          <a:ln w="0">
            <a:noFill/>
          </a:ln>
        </p:spPr>
        <p:style>
          <a:lnRef idx="0"/>
          <a:fillRef idx="0"/>
          <a:effectRef idx="0"/>
          <a:fontRef idx="minor"/>
        </p:style>
        <p:txBody>
          <a:bodyPr lIns="0" rIns="0" tIns="0" bIns="0" anchor="t">
            <a:noAutofit/>
          </a:bodyPr>
          <a:p>
            <a:pPr defTabSz="914400">
              <a:lnSpc>
                <a:spcPct val="125000"/>
              </a:lnSpc>
              <a:tabLst>
                <a:tab algn="l" pos="0"/>
              </a:tabLst>
            </a:pPr>
            <a:r>
              <a:rPr b="0" lang="en-US" sz="1000" spc="-1" strike="noStrike">
                <a:solidFill>
                  <a:srgbClr val="1e293b"/>
                </a:solidFill>
                <a:latin typeface="Calibri"/>
                <a:ea typeface="Calibri"/>
              </a:rPr>
              <a:t>Biology is fundamentally structured as graphs: genes connect to proteins, proteins form pathways, pathways influence phenotypes. Hyperon excels at combining noisy graphs, mining meaningful motifs, running uncertain reasoning chains, and proposing ranked, testable hypotheses.</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BioSpace adapters transform omics matrices into node attributes and literature triples into provenance-tracked assertions. Pattern Miner identifies motifs like 'gene A ↔ pathway P ↔ phenotype Y with drug D evidence.' PLN factor-graphs propagate graded truth over ontologies. MOSES/GEO-EVO evolves predictive programs guided by SubRep subgoals.</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Outputs are ranked hypothesis packs: CID bundles containing mechanism graphs, predictors, expected biomarkers, and counter-evidence.</a:t>
            </a:r>
            <a:endParaRPr b="0" lang="en-AU" sz="1000" spc="-1" strike="noStrike">
              <a:solidFill>
                <a:srgbClr val="000000"/>
              </a:solidFill>
              <a:latin typeface="Arial"/>
            </a:endParaRPr>
          </a:p>
        </p:txBody>
      </p:sp>
      <p:sp>
        <p:nvSpPr>
          <p:cNvPr id="294" name="Shape 6"/>
          <p:cNvSpPr/>
          <p:nvPr/>
        </p:nvSpPr>
        <p:spPr>
          <a:xfrm>
            <a:off x="4754880" y="1051560"/>
            <a:ext cx="3931560" cy="365724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AU" sz="1800" spc="-1" strike="noStrike">
              <a:solidFill>
                <a:srgbClr val="000000"/>
              </a:solidFill>
              <a:latin typeface="Arial"/>
            </a:endParaRPr>
          </a:p>
        </p:txBody>
      </p:sp>
      <p:sp>
        <p:nvSpPr>
          <p:cNvPr id="295" name="Text 7"/>
          <p:cNvSpPr/>
          <p:nvPr/>
        </p:nvSpPr>
        <p:spPr>
          <a:xfrm>
            <a:off x="4937760" y="1097280"/>
            <a:ext cx="356580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0891b2"/>
                </a:solidFill>
                <a:latin typeface="Georgia"/>
                <a:ea typeface="Georgia"/>
              </a:rPr>
              <a:t>Mathematical Theorem Proving</a:t>
            </a:r>
            <a:endParaRPr b="0" lang="en-AU" sz="1300" spc="-1" strike="noStrike">
              <a:solidFill>
                <a:srgbClr val="000000"/>
              </a:solidFill>
              <a:latin typeface="Arial"/>
            </a:endParaRPr>
          </a:p>
        </p:txBody>
      </p:sp>
      <p:sp>
        <p:nvSpPr>
          <p:cNvPr id="296" name="Text 8"/>
          <p:cNvSpPr/>
          <p:nvPr/>
        </p:nvSpPr>
        <p:spPr>
          <a:xfrm>
            <a:off x="4937760" y="1463040"/>
            <a:ext cx="3565800" cy="3108600"/>
          </a:xfrm>
          <a:prstGeom prst="rect">
            <a:avLst/>
          </a:prstGeom>
          <a:noFill/>
          <a:ln w="0">
            <a:noFill/>
          </a:ln>
        </p:spPr>
        <p:style>
          <a:lnRef idx="0"/>
          <a:fillRef idx="0"/>
          <a:effectRef idx="0"/>
          <a:fontRef idx="minor"/>
        </p:style>
        <p:txBody>
          <a:bodyPr lIns="0" rIns="0" tIns="0" bIns="0" anchor="t">
            <a:noAutofit/>
          </a:bodyPr>
          <a:p>
            <a:pPr defTabSz="914400">
              <a:lnSpc>
                <a:spcPct val="125000"/>
              </a:lnSpc>
              <a:tabLst>
                <a:tab algn="l" pos="0"/>
              </a:tabLst>
            </a:pPr>
            <a:r>
              <a:rPr b="0" lang="en-US" sz="1000" spc="-1" strike="noStrike">
                <a:solidFill>
                  <a:srgbClr val="1e293b"/>
                </a:solidFill>
                <a:latin typeface="Calibri"/>
                <a:ea typeface="Calibri"/>
              </a:rPr>
              <a:t>Most automated theorem proving focuses on proving stated goals, but mathematicians spend much time conjecturing — formulating new definitions, lemmas, and hypotheses. Hyperon targets automated conjecturing as the primary goal, using formal proof for validation.</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A formal proof verifier implemented in MM2 inside MORK provides a fast, graph-local proof kernel. The conjecture engine treats conjecturing as geodesic search over typed expressions: forward factors encode reachability from known lemmas, backward factors encode usefulness.</a:t>
            </a:r>
            <a:endParaRPr b="0" lang="en-AU" sz="1000" spc="-1" strike="noStrike">
              <a:solidFill>
                <a:srgbClr val="000000"/>
              </a:solidFill>
              <a:latin typeface="Arial"/>
            </a:endParaRPr>
          </a:p>
          <a:p>
            <a:pPr defTabSz="914400">
              <a:lnSpc>
                <a:spcPct val="125000"/>
              </a:lnSpc>
              <a:tabLst>
                <a:tab algn="l" pos="0"/>
              </a:tabLst>
            </a:pPr>
            <a:endParaRPr b="0" lang="en-AU" sz="1000" spc="-1" strike="noStrike">
              <a:solidFill>
                <a:srgbClr val="000000"/>
              </a:solidFill>
              <a:latin typeface="Arial"/>
            </a:endParaRPr>
          </a:p>
          <a:p>
            <a:pPr defTabSz="914400">
              <a:lnSpc>
                <a:spcPct val="125000"/>
              </a:lnSpc>
              <a:tabLst>
                <a:tab algn="l" pos="0"/>
              </a:tabLst>
            </a:pPr>
            <a:r>
              <a:rPr b="0" lang="en-US" sz="1000" spc="-1" strike="noStrike">
                <a:solidFill>
                  <a:srgbClr val="1e293b"/>
                </a:solidFill>
                <a:latin typeface="Calibri"/>
                <a:ea typeface="Calibri"/>
              </a:rPr>
              <a:t>Weakness biases toward simple, general statements. TransWeave reuses isomorphic substructures from neighboring theories. Pattern Miner finds proof motifs that WILLIAM promotes to reusable templates.</a:t>
            </a:r>
            <a:endParaRPr b="0" lang="en-AU" sz="1000" spc="-1" strike="noStrike">
              <a:solidFill>
                <a:srgbClr val="000000"/>
              </a:solidFill>
              <a:latin typeface="Arial"/>
            </a:endParaRPr>
          </a:p>
        </p:txBody>
      </p:sp>
      <p:sp>
        <p:nvSpPr>
          <p:cNvPr id="297" name="Shape 9"/>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298" name="Text 10"/>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39 / 40</a:t>
            </a:r>
            <a:endParaRPr b="0" lang="en-AU"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128"/>
        </a:solidFill>
      </p:bgPr>
    </p:bg>
    <p:spTree>
      <p:nvGrpSpPr>
        <p:cNvPr id="1" name=""/>
        <p:cNvGrpSpPr/>
        <p:nvPr/>
      </p:nvGrpSpPr>
      <p:grpSpPr>
        <a:xfrm>
          <a:off x="0" y="0"/>
          <a:ext cx="0" cy="0"/>
          <a:chOff x="0" y="0"/>
          <a:chExt cx="0" cy="0"/>
        </a:xfrm>
      </p:grpSpPr>
      <p:sp>
        <p:nvSpPr>
          <p:cNvPr id="299" name="Shape 0"/>
          <p:cNvSpPr/>
          <p:nvPr/>
        </p:nvSpPr>
        <p:spPr>
          <a:xfrm>
            <a:off x="0" y="0"/>
            <a:ext cx="9143640" cy="54360"/>
          </a:xfrm>
          <a:prstGeom prst="rect">
            <a:avLst/>
          </a:prstGeom>
          <a:solidFill>
            <a:srgbClr val="0891b2"/>
          </a:solidFill>
          <a:ln w="0">
            <a:noFill/>
          </a:ln>
        </p:spPr>
        <p:style>
          <a:lnRef idx="0"/>
          <a:fillRef idx="0"/>
          <a:effectRef idx="0"/>
          <a:fontRef idx="minor"/>
        </p:style>
        <p:txBody>
          <a:bodyPr lIns="90000" rIns="90000" tIns="9720" bIns="9720" anchor="t">
            <a:noAutofit/>
          </a:bodyPr>
          <a:p>
            <a:endParaRPr b="0" lang="en-AU" sz="1800" spc="-1" strike="noStrike">
              <a:solidFill>
                <a:srgbClr val="ffffff"/>
              </a:solidFill>
              <a:latin typeface="Arial"/>
            </a:endParaRPr>
          </a:p>
        </p:txBody>
      </p:sp>
      <p:pic>
        <p:nvPicPr>
          <p:cNvPr id="300" name="Image 0" descr="preencoded.png"/>
          <p:cNvPicPr/>
          <p:nvPr/>
        </p:nvPicPr>
        <p:blipFill>
          <a:blip r:embed="rId1"/>
          <a:stretch/>
        </p:blipFill>
        <p:spPr>
          <a:xfrm>
            <a:off x="4114800" y="502920"/>
            <a:ext cx="822600" cy="822600"/>
          </a:xfrm>
          <a:prstGeom prst="rect">
            <a:avLst/>
          </a:prstGeom>
          <a:ln w="0">
            <a:noFill/>
          </a:ln>
        </p:spPr>
      </p:pic>
      <p:sp>
        <p:nvSpPr>
          <p:cNvPr id="301" name="Text 1"/>
          <p:cNvSpPr/>
          <p:nvPr/>
        </p:nvSpPr>
        <p:spPr>
          <a:xfrm>
            <a:off x="457200" y="1371600"/>
            <a:ext cx="822924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000" spc="-1" strike="noStrike">
                <a:solidFill>
                  <a:srgbClr val="ffffff"/>
                </a:solidFill>
                <a:latin typeface="Georgia"/>
                <a:ea typeface="Georgia"/>
              </a:rPr>
              <a:t>A Viable, Faster Path to Beneficial AGI</a:t>
            </a:r>
            <a:endParaRPr b="0" lang="en-AU" sz="3000" spc="-1" strike="noStrike">
              <a:solidFill>
                <a:srgbClr val="ffffff"/>
              </a:solidFill>
              <a:latin typeface="Arial"/>
            </a:endParaRPr>
          </a:p>
        </p:txBody>
      </p:sp>
      <p:sp>
        <p:nvSpPr>
          <p:cNvPr id="302" name="Text 2"/>
          <p:cNvSpPr/>
          <p:nvPr/>
        </p:nvSpPr>
        <p:spPr>
          <a:xfrm>
            <a:off x="914400" y="2103120"/>
            <a:ext cx="7314840" cy="1737000"/>
          </a:xfrm>
          <a:prstGeom prst="rect">
            <a:avLst/>
          </a:prstGeom>
          <a:noFill/>
          <a:ln w="0">
            <a:noFill/>
          </a:ln>
        </p:spPr>
        <p:style>
          <a:lnRef idx="0"/>
          <a:fillRef idx="0"/>
          <a:effectRef idx="0"/>
          <a:fontRef idx="minor"/>
        </p:style>
        <p:txBody>
          <a:bodyPr lIns="0" rIns="0" tIns="0" bIns="0" anchor="t">
            <a:noAutofit/>
          </a:bodyPr>
          <a:p>
            <a:pPr algn="ctr" defTabSz="914400">
              <a:lnSpc>
                <a:spcPct val="130000"/>
              </a:lnSpc>
              <a:tabLst>
                <a:tab algn="l" pos="0"/>
              </a:tabLst>
            </a:pPr>
            <a:r>
              <a:rPr b="0" lang="en-US" sz="1200" spc="-1" strike="noStrike">
                <a:solidFill>
                  <a:srgbClr val="e0f2fe"/>
                </a:solidFill>
                <a:latin typeface="Calibri"/>
                <a:ea typeface="Calibri"/>
              </a:rPr>
              <a:t>Hyperon + PRIMUS represents a unified neurosymbolic machine that learns, reasons, plans, and reflects within the same memory and control plane. It explains and audits itself as it grows — a credible alternative to ever-larger LLMs, offering a faster route to human-level AGI scaling into beneficial superintelligence.</a:t>
            </a:r>
            <a:endParaRPr b="0" lang="en-AU" sz="1200" spc="-1" strike="noStrike">
              <a:solidFill>
                <a:srgbClr val="ffffff"/>
              </a:solidFill>
              <a:latin typeface="Arial"/>
            </a:endParaRPr>
          </a:p>
          <a:p>
            <a:pPr algn="ctr" defTabSz="914400">
              <a:lnSpc>
                <a:spcPct val="130000"/>
              </a:lnSpc>
              <a:tabLst>
                <a:tab algn="l" pos="0"/>
              </a:tabLst>
            </a:pPr>
            <a:endParaRPr b="0" lang="en-AU" sz="1200" spc="-1" strike="noStrike">
              <a:solidFill>
                <a:srgbClr val="ffffff"/>
              </a:solidFill>
              <a:latin typeface="Arial"/>
            </a:endParaRPr>
          </a:p>
          <a:p>
            <a:pPr algn="ctr" defTabSz="914400">
              <a:lnSpc>
                <a:spcPct val="130000"/>
              </a:lnSpc>
              <a:tabLst>
                <a:tab algn="l" pos="0"/>
              </a:tabLst>
            </a:pPr>
            <a:r>
              <a:rPr b="0" lang="en-US" sz="1200" spc="-1" strike="noStrike">
                <a:solidFill>
                  <a:srgbClr val="e0f2fe"/>
                </a:solidFill>
                <a:latin typeface="Calibri"/>
                <a:ea typeface="Calibri"/>
              </a:rPr>
              <a:t>The same mathematics that makes the system intelligent also makes it safe to grow. The same provenance that makes it accountable makes it democratic to deploy.</a:t>
            </a:r>
            <a:endParaRPr b="0" lang="en-AU" sz="1200" spc="-1" strike="noStrike">
              <a:solidFill>
                <a:srgbClr val="ffffff"/>
              </a:solidFill>
              <a:latin typeface="Arial"/>
            </a:endParaRPr>
          </a:p>
          <a:p>
            <a:pPr algn="ctr" defTabSz="914400">
              <a:lnSpc>
                <a:spcPct val="130000"/>
              </a:lnSpc>
              <a:tabLst>
                <a:tab algn="l" pos="0"/>
              </a:tabLst>
            </a:pPr>
            <a:endParaRPr b="0" lang="en-AU" sz="1200" spc="-1" strike="noStrike">
              <a:solidFill>
                <a:srgbClr val="ffffff"/>
              </a:solidFill>
              <a:latin typeface="Arial"/>
            </a:endParaRPr>
          </a:p>
          <a:p>
            <a:pPr algn="ctr" defTabSz="914400">
              <a:lnSpc>
                <a:spcPct val="130000"/>
              </a:lnSpc>
              <a:tabLst>
                <a:tab algn="l" pos="0"/>
              </a:tabLst>
            </a:pPr>
            <a:r>
              <a:rPr b="0" lang="en-US" sz="1200" spc="-1" strike="noStrike">
                <a:solidFill>
                  <a:srgbClr val="e0f2fe"/>
                </a:solidFill>
                <a:latin typeface="Calibri"/>
                <a:ea typeface="Calibri"/>
              </a:rPr>
              <a:t>This isn't AGI with safety bolted on afterward; it is AGI that is beneficial by construction.</a:t>
            </a:r>
            <a:endParaRPr b="0" lang="en-AU" sz="1200" spc="-1" strike="noStrike">
              <a:solidFill>
                <a:srgbClr val="ffffff"/>
              </a:solidFill>
              <a:latin typeface="Arial"/>
            </a:endParaRPr>
          </a:p>
        </p:txBody>
      </p:sp>
      <p:sp>
        <p:nvSpPr>
          <p:cNvPr id="303" name="Shape 3"/>
          <p:cNvSpPr/>
          <p:nvPr/>
        </p:nvSpPr>
        <p:spPr>
          <a:xfrm>
            <a:off x="914400" y="3977640"/>
            <a:ext cx="7314840" cy="27000"/>
          </a:xfrm>
          <a:prstGeom prst="rect">
            <a:avLst/>
          </a:prstGeom>
          <a:solidFill>
            <a:srgbClr val="0891b2"/>
          </a:solidFill>
          <a:ln w="0">
            <a:noFill/>
          </a:ln>
        </p:spPr>
        <p:style>
          <a:lnRef idx="0"/>
          <a:fillRef idx="0"/>
          <a:effectRef idx="0"/>
          <a:fontRef idx="minor"/>
        </p:style>
        <p:txBody>
          <a:bodyPr lIns="90000" rIns="90000" tIns="-17640" bIns="-17640" anchor="t">
            <a:noAutofit/>
          </a:bodyPr>
          <a:p>
            <a:endParaRPr b="0" lang="en-AU" sz="1800" spc="-1" strike="noStrike">
              <a:solidFill>
                <a:srgbClr val="ffffff"/>
              </a:solidFill>
              <a:latin typeface="Arial"/>
            </a:endParaRPr>
          </a:p>
        </p:txBody>
      </p:sp>
      <p:sp>
        <p:nvSpPr>
          <p:cNvPr id="304" name="Text 4"/>
          <p:cNvSpPr/>
          <p:nvPr/>
        </p:nvSpPr>
        <p:spPr>
          <a:xfrm>
            <a:off x="914400" y="4069080"/>
            <a:ext cx="7314840" cy="4568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950" spc="-1" strike="noStrike">
                <a:solidFill>
                  <a:srgbClr val="64748b"/>
                </a:solidFill>
                <a:latin typeface="Calibri"/>
                <a:ea typeface="Calibri"/>
              </a:rPr>
              <a:t>Falsifiable Predictions: 25-50% FLOP gains  •  70%+ positive transfer  •  Invariant stability under self-mod  •  Higher replication in beneficial domains</a:t>
            </a:r>
            <a:endParaRPr b="0" lang="en-AU" sz="950" spc="-1" strike="noStrike">
              <a:solidFill>
                <a:srgbClr val="ffffff"/>
              </a:solidFill>
              <a:latin typeface="Arial"/>
            </a:endParaRPr>
          </a:p>
        </p:txBody>
      </p:sp>
      <p:sp>
        <p:nvSpPr>
          <p:cNvPr id="305" name="Shape 5"/>
          <p:cNvSpPr/>
          <p:nvPr/>
        </p:nvSpPr>
        <p:spPr>
          <a:xfrm>
            <a:off x="0" y="4892040"/>
            <a:ext cx="9143640" cy="251280"/>
          </a:xfrm>
          <a:prstGeom prst="rect">
            <a:avLst/>
          </a:prstGeom>
          <a:solidFill>
            <a:srgbClr val="0f1b3d"/>
          </a:solidFill>
          <a:ln w="0">
            <a:noFill/>
          </a:ln>
        </p:spPr>
        <p:style>
          <a:lnRef idx="0"/>
          <a:fillRef idx="0"/>
          <a:effectRef idx="0"/>
          <a:fontRef idx="minor"/>
        </p:style>
        <p:txBody>
          <a:bodyPr lIns="90000" rIns="90000" tIns="45000" bIns="45000" anchor="t">
            <a:noAutofit/>
          </a:bodyPr>
          <a:p>
            <a:endParaRPr b="0" lang="en-AU" sz="1800" spc="-1" strike="noStrike">
              <a:solidFill>
                <a:srgbClr val="ffffff"/>
              </a:solidFill>
              <a:latin typeface="Arial"/>
            </a:endParaRPr>
          </a:p>
        </p:txBody>
      </p:sp>
      <p:sp>
        <p:nvSpPr>
          <p:cNvPr id="306" name="Text 6"/>
          <p:cNvSpPr/>
          <p:nvPr/>
        </p:nvSpPr>
        <p:spPr>
          <a:xfrm>
            <a:off x="7772400" y="4892040"/>
            <a:ext cx="1096920" cy="2512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pc="-1" strike="noStrike">
                <a:solidFill>
                  <a:srgbClr val="e0f2fe"/>
                </a:solidFill>
                <a:latin typeface="Calibri"/>
                <a:ea typeface="Calibri"/>
              </a:rPr>
              <a:t>40 / 40</a:t>
            </a:r>
            <a:endParaRPr b="0" lang="en-AU"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2026-04-03T09:28:16Z</dcterms:created>
  <dc:creator>Ben Goertzel / SingularityNET</dc:creator>
  <dc:description/>
  <dc:language>en-AU</dc:language>
  <cp:lastModifiedBy/>
  <dcterms:modified xsi:type="dcterms:W3CDTF">2026-04-03T12:33:37Z</dcterms:modified>
  <cp:revision>2</cp:revision>
  <dc:subject>PptxGenJS Presentation</dc:subject>
  <dc:title>Hyperon for AGI → ASI — Whitepaper 2025</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40</vt:i4>
  </property>
  <property fmtid="{D5CDD505-2E9C-101B-9397-08002B2CF9AE}" pid="3" name="PresentationFormat">
    <vt:lpwstr>On-screen Show (16:9)</vt:lpwstr>
  </property>
  <property fmtid="{D5CDD505-2E9C-101B-9397-08002B2CF9AE}" pid="4" name="Slides">
    <vt:i4>40</vt:i4>
  </property>
</Properties>
</file>